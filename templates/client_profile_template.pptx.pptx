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
  </p:notesMasterIdLst>
  <p:sldIdLst>
    <p:sldId id="2147481644"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5A985-3BB6-4AAD-B48C-AFD279F507E8}" v="12" dt="2026-07-31T04:59:40.6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111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8A64A4-8F04-4D21-AE85-D21C24FFE365}" type="datetimeFigureOut">
              <a:rPr lang="en-GB" smtClean="0"/>
              <a:t>31/07/2026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4DEDC6-57B9-4841-8E16-92778E2EE4C3}" type="slidenum">
              <a:rPr lang="en-GB" smtClean="0"/>
              <a:t>‹#›</a:t>
            </a:fld>
            <a:endParaRPr lang="en-GB"/>
          </a:p>
        </p:txBody>
      </p:sp>
    </p:spTree>
    <p:extLst>
      <p:ext uri="{BB962C8B-B14F-4D97-AF65-F5344CB8AC3E}">
        <p14:creationId xmlns:p14="http://schemas.microsoft.com/office/powerpoint/2010/main" val="2532314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D4BC8-1281-C19D-235A-60E677C5EEF8}"/>
            </a:ext>
          </a:extLst>
        </p:cNvPr>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D470BD2E-7066-C909-CB27-AE3F6604595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GB"/>
          </a:p>
        </p:txBody>
      </p:sp>
      <p:sp>
        <p:nvSpPr>
          <p:cNvPr id="8195" name="Notes Placeholder 2">
            <a:extLst>
              <a:ext uri="{FF2B5EF4-FFF2-40B4-BE49-F238E27FC236}">
                <a16:creationId xmlns:a16="http://schemas.microsoft.com/office/drawing/2014/main" id="{AD3C7FCB-DE82-E801-3860-D9A4BA9A724B}"/>
              </a:ext>
            </a:extLst>
          </p:cNvPr>
          <p:cNvSpPr>
            <a:spLocks noGrp="1" noChangeArrowheads="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4" name="Slide Number Placeholder 3">
            <a:extLst>
              <a:ext uri="{FF2B5EF4-FFF2-40B4-BE49-F238E27FC236}">
                <a16:creationId xmlns:a16="http://schemas.microsoft.com/office/drawing/2014/main" id="{19547B8F-F91E-BCD3-AA0F-E9E37F41737B}"/>
              </a:ext>
            </a:extLst>
          </p:cNvPr>
          <p:cNvSpPr txBox="1"/>
          <p:nvPr/>
        </p:nvSpPr>
        <p:spPr>
          <a:xfrm>
            <a:off x="3884613" y="8685213"/>
            <a:ext cx="2971800" cy="458787"/>
          </a:xfrm>
          <a:prstGeom prst="rect">
            <a:avLst/>
          </a:prstGeom>
          <a:noFill/>
          <a:ln cap="flat">
            <a:noFill/>
          </a:ln>
        </p:spPr>
        <p:txBody>
          <a:bodyPr anchor="b"/>
          <a:lstStyle/>
          <a:p>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fld id="{BECC7B1C-B014-45AA-9113-D5F76C866331}" type="slidenum">
              <a:rPr kumimoji="0" sz="1800" b="0" i="0" u="none" strike="noStrike" kern="0" cap="none" spc="0" normalizeH="0" baseline="0" noProof="0">
                <a:ln>
                  <a:noFill/>
                </a:ln>
                <a:solidFill>
                  <a:srgbClr val="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t>1</a:t>
            </a:fld>
            <a:endParaRPr kumimoji="0" lang="en-GB" sz="1200" b="0" i="0" u="none" strike="noStrike" kern="0" cap="none" spc="0" normalizeH="0" baseline="0" noProof="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343248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A34A1-1FFD-08A9-06D7-AF30594B83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D1230CD-156A-5322-7C6F-F1786ABFBB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5815334-3D37-E4A0-9F87-3F9943024EAD}"/>
              </a:ext>
            </a:extLst>
          </p:cNvPr>
          <p:cNvSpPr>
            <a:spLocks noGrp="1"/>
          </p:cNvSpPr>
          <p:nvPr>
            <p:ph type="dt" sz="half" idx="10"/>
          </p:nvPr>
        </p:nvSpPr>
        <p:spPr/>
        <p:txBody>
          <a:bodyPr/>
          <a:lstStyle/>
          <a:p>
            <a:fld id="{D6D8F223-D90E-448A-98AF-5FDED7DD95DB}" type="datetimeFigureOut">
              <a:rPr lang="en-GB" smtClean="0"/>
              <a:t>31/07/2026</a:t>
            </a:fld>
            <a:endParaRPr lang="en-GB"/>
          </a:p>
        </p:txBody>
      </p:sp>
      <p:sp>
        <p:nvSpPr>
          <p:cNvPr id="5" name="Footer Placeholder 4">
            <a:extLst>
              <a:ext uri="{FF2B5EF4-FFF2-40B4-BE49-F238E27FC236}">
                <a16:creationId xmlns:a16="http://schemas.microsoft.com/office/drawing/2014/main" id="{241E5B0E-6DF3-4C94-80B5-B344256F84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115EA3B-0FB6-A10E-E397-57E67C95D7E9}"/>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854095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B0CD9-A699-2717-2440-DBE55388D81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77942CF-765C-3B93-0198-85FD3B9F3B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9B2B66-9BB1-31B0-7258-2B2CD677E0B2}"/>
              </a:ext>
            </a:extLst>
          </p:cNvPr>
          <p:cNvSpPr>
            <a:spLocks noGrp="1"/>
          </p:cNvSpPr>
          <p:nvPr>
            <p:ph type="dt" sz="half" idx="10"/>
          </p:nvPr>
        </p:nvSpPr>
        <p:spPr/>
        <p:txBody>
          <a:bodyPr/>
          <a:lstStyle/>
          <a:p>
            <a:fld id="{D6D8F223-D90E-448A-98AF-5FDED7DD95DB}" type="datetimeFigureOut">
              <a:rPr lang="en-GB" smtClean="0"/>
              <a:t>31/07/2026</a:t>
            </a:fld>
            <a:endParaRPr lang="en-GB"/>
          </a:p>
        </p:txBody>
      </p:sp>
      <p:sp>
        <p:nvSpPr>
          <p:cNvPr id="5" name="Footer Placeholder 4">
            <a:extLst>
              <a:ext uri="{FF2B5EF4-FFF2-40B4-BE49-F238E27FC236}">
                <a16:creationId xmlns:a16="http://schemas.microsoft.com/office/drawing/2014/main" id="{5A1E8919-CC3D-40EB-0712-CA2C4E68E65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CE4DF65-BF11-6907-B469-E87B23EEAEC1}"/>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546695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774E6-9A26-2479-DDBE-9940493244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8E8FD20-3A4C-C5E4-49CF-5175CE1ACE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DE97AE-DEC5-B29C-1826-7342092146F2}"/>
              </a:ext>
            </a:extLst>
          </p:cNvPr>
          <p:cNvSpPr>
            <a:spLocks noGrp="1"/>
          </p:cNvSpPr>
          <p:nvPr>
            <p:ph type="dt" sz="half" idx="10"/>
          </p:nvPr>
        </p:nvSpPr>
        <p:spPr/>
        <p:txBody>
          <a:bodyPr/>
          <a:lstStyle/>
          <a:p>
            <a:fld id="{D6D8F223-D90E-448A-98AF-5FDED7DD95DB}" type="datetimeFigureOut">
              <a:rPr lang="en-GB" smtClean="0"/>
              <a:t>31/07/2026</a:t>
            </a:fld>
            <a:endParaRPr lang="en-GB"/>
          </a:p>
        </p:txBody>
      </p:sp>
      <p:sp>
        <p:nvSpPr>
          <p:cNvPr id="5" name="Footer Placeholder 4">
            <a:extLst>
              <a:ext uri="{FF2B5EF4-FFF2-40B4-BE49-F238E27FC236}">
                <a16:creationId xmlns:a16="http://schemas.microsoft.com/office/drawing/2014/main" id="{4961412C-37EB-0637-DC38-DC5DC5882BC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F9ABED-CB0E-8552-F7F2-9A2B12AA323E}"/>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4227790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EA923-E110-B6EA-5EC9-98103E7746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D3867EC-A55A-1CCF-E6A3-61E172B26E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5972F9E-5C5D-4FB1-56A8-AF44B1035A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FB4F12B-DCBB-5FF2-AFEC-D4FA9E136863}"/>
              </a:ext>
            </a:extLst>
          </p:cNvPr>
          <p:cNvSpPr>
            <a:spLocks noGrp="1"/>
          </p:cNvSpPr>
          <p:nvPr>
            <p:ph type="dt" sz="half" idx="10"/>
          </p:nvPr>
        </p:nvSpPr>
        <p:spPr/>
        <p:txBody>
          <a:bodyPr/>
          <a:lstStyle/>
          <a:p>
            <a:fld id="{D6D8F223-D90E-448A-98AF-5FDED7DD95DB}" type="datetimeFigureOut">
              <a:rPr lang="en-GB" smtClean="0"/>
              <a:t>31/07/2026</a:t>
            </a:fld>
            <a:endParaRPr lang="en-GB"/>
          </a:p>
        </p:txBody>
      </p:sp>
      <p:sp>
        <p:nvSpPr>
          <p:cNvPr id="6" name="Footer Placeholder 5">
            <a:extLst>
              <a:ext uri="{FF2B5EF4-FFF2-40B4-BE49-F238E27FC236}">
                <a16:creationId xmlns:a16="http://schemas.microsoft.com/office/drawing/2014/main" id="{17C4DA59-D6BC-37DF-42A0-1914F600AF1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586C43A-2724-E4EB-B374-00BFE2BECC4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425553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C665B-0C45-E569-5B45-1663469A027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2DBF56B-0D8B-BDC9-7C34-509FB1B766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6FD2B1-51F1-CACE-7E5A-397C2D14DA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AF1F5EF-544A-F5E2-2189-FF39D610DC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DC2E1F-8241-F6E6-6EAF-1B5A4A5B5C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9DC2B24-FABF-4D40-4480-0C4006FC0B45}"/>
              </a:ext>
            </a:extLst>
          </p:cNvPr>
          <p:cNvSpPr>
            <a:spLocks noGrp="1"/>
          </p:cNvSpPr>
          <p:nvPr>
            <p:ph type="dt" sz="half" idx="10"/>
          </p:nvPr>
        </p:nvSpPr>
        <p:spPr/>
        <p:txBody>
          <a:bodyPr/>
          <a:lstStyle/>
          <a:p>
            <a:fld id="{D6D8F223-D90E-448A-98AF-5FDED7DD95DB}" type="datetimeFigureOut">
              <a:rPr lang="en-GB" smtClean="0"/>
              <a:t>31/07/2026</a:t>
            </a:fld>
            <a:endParaRPr lang="en-GB"/>
          </a:p>
        </p:txBody>
      </p:sp>
      <p:sp>
        <p:nvSpPr>
          <p:cNvPr id="8" name="Footer Placeholder 7">
            <a:extLst>
              <a:ext uri="{FF2B5EF4-FFF2-40B4-BE49-F238E27FC236}">
                <a16:creationId xmlns:a16="http://schemas.microsoft.com/office/drawing/2014/main" id="{430A03A6-8A28-E7DE-0CAB-307860EE96E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1E9491C-6CD8-AC62-5824-73DF6ED51C4F}"/>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107153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4144D-69AA-7E53-2516-A3C0E26AD9D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01CE76F-E652-39CC-A926-61ABDE146F91}"/>
              </a:ext>
            </a:extLst>
          </p:cNvPr>
          <p:cNvSpPr>
            <a:spLocks noGrp="1"/>
          </p:cNvSpPr>
          <p:nvPr>
            <p:ph type="dt" sz="half" idx="10"/>
          </p:nvPr>
        </p:nvSpPr>
        <p:spPr/>
        <p:txBody>
          <a:bodyPr/>
          <a:lstStyle/>
          <a:p>
            <a:fld id="{D6D8F223-D90E-448A-98AF-5FDED7DD95DB}" type="datetimeFigureOut">
              <a:rPr lang="en-GB" smtClean="0"/>
              <a:t>31/07/2026</a:t>
            </a:fld>
            <a:endParaRPr lang="en-GB"/>
          </a:p>
        </p:txBody>
      </p:sp>
      <p:sp>
        <p:nvSpPr>
          <p:cNvPr id="4" name="Footer Placeholder 3">
            <a:extLst>
              <a:ext uri="{FF2B5EF4-FFF2-40B4-BE49-F238E27FC236}">
                <a16:creationId xmlns:a16="http://schemas.microsoft.com/office/drawing/2014/main" id="{E6332CF3-06BC-565D-D3F0-22FDEB3BEC4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915E833-C050-F55F-BC6B-EC80489E02AA}"/>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600011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DE0617-1D22-C81C-4B7A-5008407770E2}"/>
              </a:ext>
            </a:extLst>
          </p:cNvPr>
          <p:cNvSpPr>
            <a:spLocks noGrp="1"/>
          </p:cNvSpPr>
          <p:nvPr>
            <p:ph type="dt" sz="half" idx="10"/>
          </p:nvPr>
        </p:nvSpPr>
        <p:spPr/>
        <p:txBody>
          <a:bodyPr/>
          <a:lstStyle/>
          <a:p>
            <a:fld id="{D6D8F223-D90E-448A-98AF-5FDED7DD95DB}" type="datetimeFigureOut">
              <a:rPr lang="en-GB" smtClean="0"/>
              <a:t>31/07/2026</a:t>
            </a:fld>
            <a:endParaRPr lang="en-GB"/>
          </a:p>
        </p:txBody>
      </p:sp>
      <p:sp>
        <p:nvSpPr>
          <p:cNvPr id="3" name="Footer Placeholder 2">
            <a:extLst>
              <a:ext uri="{FF2B5EF4-FFF2-40B4-BE49-F238E27FC236}">
                <a16:creationId xmlns:a16="http://schemas.microsoft.com/office/drawing/2014/main" id="{899C5727-26BC-BC90-635E-CC4B22DFAB2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EECCC1E-4342-A6B5-CD05-A51D2917B05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994419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D91EA-5818-3787-0FA2-E80B7E4581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F8818D9-626D-7098-2499-B3F4AC5EE6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D75A300-833E-4681-E759-ED24A4C552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0E3D44-DC37-B14D-CEFB-13EDEBF11D11}"/>
              </a:ext>
            </a:extLst>
          </p:cNvPr>
          <p:cNvSpPr>
            <a:spLocks noGrp="1"/>
          </p:cNvSpPr>
          <p:nvPr>
            <p:ph type="dt" sz="half" idx="10"/>
          </p:nvPr>
        </p:nvSpPr>
        <p:spPr/>
        <p:txBody>
          <a:bodyPr/>
          <a:lstStyle/>
          <a:p>
            <a:fld id="{D6D8F223-D90E-448A-98AF-5FDED7DD95DB}" type="datetimeFigureOut">
              <a:rPr lang="en-GB" smtClean="0"/>
              <a:t>31/07/2026</a:t>
            </a:fld>
            <a:endParaRPr lang="en-GB"/>
          </a:p>
        </p:txBody>
      </p:sp>
      <p:sp>
        <p:nvSpPr>
          <p:cNvPr id="6" name="Footer Placeholder 5">
            <a:extLst>
              <a:ext uri="{FF2B5EF4-FFF2-40B4-BE49-F238E27FC236}">
                <a16:creationId xmlns:a16="http://schemas.microsoft.com/office/drawing/2014/main" id="{7227B9F2-FDDD-D257-7A44-C93F869C8C3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2F5528D-F3C5-B55A-53DA-6A78F1656BCD}"/>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2264367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66AFF-E171-AC1E-127E-3D9A91B43D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43FFACB-40AB-3A85-15F6-340B24D8B4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E98DB6C-9BCC-DF84-4CF8-628B18BDA9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FD1EC9-9C0F-BA50-E571-E14F0171D2A5}"/>
              </a:ext>
            </a:extLst>
          </p:cNvPr>
          <p:cNvSpPr>
            <a:spLocks noGrp="1"/>
          </p:cNvSpPr>
          <p:nvPr>
            <p:ph type="dt" sz="half" idx="10"/>
          </p:nvPr>
        </p:nvSpPr>
        <p:spPr/>
        <p:txBody>
          <a:bodyPr/>
          <a:lstStyle/>
          <a:p>
            <a:fld id="{D6D8F223-D90E-448A-98AF-5FDED7DD95DB}" type="datetimeFigureOut">
              <a:rPr lang="en-GB" smtClean="0"/>
              <a:t>31/07/2026</a:t>
            </a:fld>
            <a:endParaRPr lang="en-GB"/>
          </a:p>
        </p:txBody>
      </p:sp>
      <p:sp>
        <p:nvSpPr>
          <p:cNvPr id="6" name="Footer Placeholder 5">
            <a:extLst>
              <a:ext uri="{FF2B5EF4-FFF2-40B4-BE49-F238E27FC236}">
                <a16:creationId xmlns:a16="http://schemas.microsoft.com/office/drawing/2014/main" id="{CD7601D6-CD86-BBDF-C093-91865EEE837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FB6F24F-996D-EFC3-54BE-881CFEFE8782}"/>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650815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2971C-AA66-56E3-4CB5-BC0D2D77A1E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E785955-CB23-0E7C-6D92-908A34CB63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5AC84CE-69E1-2DC6-732D-ED52AB3A2CFE}"/>
              </a:ext>
            </a:extLst>
          </p:cNvPr>
          <p:cNvSpPr>
            <a:spLocks noGrp="1"/>
          </p:cNvSpPr>
          <p:nvPr>
            <p:ph type="dt" sz="half" idx="10"/>
          </p:nvPr>
        </p:nvSpPr>
        <p:spPr/>
        <p:txBody>
          <a:bodyPr/>
          <a:lstStyle/>
          <a:p>
            <a:fld id="{D6D8F223-D90E-448A-98AF-5FDED7DD95DB}" type="datetimeFigureOut">
              <a:rPr lang="en-GB" smtClean="0"/>
              <a:t>31/07/2026</a:t>
            </a:fld>
            <a:endParaRPr lang="en-GB"/>
          </a:p>
        </p:txBody>
      </p:sp>
      <p:sp>
        <p:nvSpPr>
          <p:cNvPr id="5" name="Footer Placeholder 4">
            <a:extLst>
              <a:ext uri="{FF2B5EF4-FFF2-40B4-BE49-F238E27FC236}">
                <a16:creationId xmlns:a16="http://schemas.microsoft.com/office/drawing/2014/main" id="{1D2F265E-B5E7-22FB-ADE8-6F17DD75268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07EC371-A4B0-55E6-3F27-A60167CF623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2495235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17F69E-D4D2-1140-BA86-C9AF6DCCAFA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B6E8BC8-C21D-E775-EA4C-1FAC1FE487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C53FACC-3AC4-95DA-DE9A-EC74E53EE064}"/>
              </a:ext>
            </a:extLst>
          </p:cNvPr>
          <p:cNvSpPr>
            <a:spLocks noGrp="1"/>
          </p:cNvSpPr>
          <p:nvPr>
            <p:ph type="dt" sz="half" idx="10"/>
          </p:nvPr>
        </p:nvSpPr>
        <p:spPr/>
        <p:txBody>
          <a:bodyPr/>
          <a:lstStyle/>
          <a:p>
            <a:fld id="{D6D8F223-D90E-448A-98AF-5FDED7DD95DB}" type="datetimeFigureOut">
              <a:rPr lang="en-GB" smtClean="0"/>
              <a:t>31/07/2026</a:t>
            </a:fld>
            <a:endParaRPr lang="en-GB"/>
          </a:p>
        </p:txBody>
      </p:sp>
      <p:sp>
        <p:nvSpPr>
          <p:cNvPr id="5" name="Footer Placeholder 4">
            <a:extLst>
              <a:ext uri="{FF2B5EF4-FFF2-40B4-BE49-F238E27FC236}">
                <a16:creationId xmlns:a16="http://schemas.microsoft.com/office/drawing/2014/main" id="{70C4A84A-BFD8-CF9A-06CA-8242879D47F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4B0263-5572-CAB9-D489-6B13C5C4588E}"/>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987679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Resume w/picture map">
    <p:spTree>
      <p:nvGrpSpPr>
        <p:cNvPr id="1" name=""/>
        <p:cNvGrpSpPr/>
        <p:nvPr/>
      </p:nvGrpSpPr>
      <p:grpSpPr>
        <a:xfrm>
          <a:off x="0" y="0"/>
          <a:ext cx="0" cy="0"/>
          <a:chOff x="0" y="0"/>
          <a:chExt cx="0" cy="0"/>
        </a:xfrm>
      </p:grpSpPr>
      <p:pic>
        <p:nvPicPr>
          <p:cNvPr id="2" name="Picture 13" descr="A blue rectangular object with black border&#10;&#10;Description automatically generated">
            <a:extLst>
              <a:ext uri="{FF2B5EF4-FFF2-40B4-BE49-F238E27FC236}">
                <a16:creationId xmlns:a16="http://schemas.microsoft.com/office/drawing/2014/main" id="{BA69870E-4E56-8C1E-6843-424EC437D7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 y="-9525"/>
            <a:ext cx="2681288" cy="689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8">
            <a:extLst>
              <a:ext uri="{FF2B5EF4-FFF2-40B4-BE49-F238E27FC236}">
                <a16:creationId xmlns:a16="http://schemas.microsoft.com/office/drawing/2014/main" id="{F19CF2BB-74C1-A092-3F63-58C3BC5AA0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1825" y="6413500"/>
            <a:ext cx="809625"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Placeholder 14"/>
          <p:cNvSpPr txBox="1">
            <a:spLocks noGrp="1"/>
          </p:cNvSpPr>
          <p:nvPr>
            <p:ph type="body" idx="4294967295"/>
          </p:nvPr>
        </p:nvSpPr>
        <p:spPr>
          <a:xfrm>
            <a:off x="590546" y="3231992"/>
            <a:ext cx="1990091" cy="446272"/>
          </a:xfrm>
        </p:spPr>
        <p:txBody>
          <a:bodyPr>
            <a:noAutofit/>
          </a:bodyPr>
          <a:lstStyle>
            <a:lvl1pPr marL="0" indent="0">
              <a:buNone/>
              <a:defRPr lang="en-GB" sz="1000">
                <a:solidFill>
                  <a:srgbClr val="FFFFFF"/>
                </a:solidFill>
                <a:latin typeface="Arial" pitchFamily="34"/>
                <a:cs typeface="Arial" pitchFamily="34"/>
              </a:defRPr>
            </a:lvl1pPr>
          </a:lstStyle>
          <a:p>
            <a:pPr lvl="0"/>
            <a:r>
              <a:rPr lang="en-GB"/>
              <a:t>Title,</a:t>
            </a:r>
            <a:br>
              <a:rPr lang="en-GB"/>
            </a:br>
            <a:r>
              <a:rPr lang="en-GB"/>
              <a:t>Solution/Industry</a:t>
            </a:r>
            <a:endParaRPr lang="en-US"/>
          </a:p>
        </p:txBody>
      </p:sp>
      <p:sp>
        <p:nvSpPr>
          <p:cNvPr id="5" name="Picture Placeholder 23"/>
          <p:cNvSpPr txBox="1">
            <a:spLocks noGrp="1"/>
          </p:cNvSpPr>
          <p:nvPr>
            <p:ph type="pic" idx="4294967295"/>
          </p:nvPr>
        </p:nvSpPr>
        <p:spPr>
          <a:xfrm>
            <a:off x="590546" y="580579"/>
            <a:ext cx="1485150" cy="1485150"/>
          </a:xfrm>
          <a:solidFill>
            <a:srgbClr val="BDCAD7"/>
          </a:solidFill>
        </p:spPr>
        <p:txBody>
          <a:bodyPr rtlCol="0" anchorCtr="1">
            <a:noAutofit/>
          </a:bodyPr>
          <a:lstStyle>
            <a:lvl1pPr marL="0" indent="0" algn="ctr">
              <a:buNone/>
              <a:defRPr sz="1200"/>
            </a:lvl1pPr>
          </a:lstStyle>
          <a:p>
            <a:pPr lvl="0"/>
            <a:r>
              <a:rPr lang="en-US" noProof="0"/>
              <a:t>Insert headshot</a:t>
            </a:r>
          </a:p>
        </p:txBody>
      </p:sp>
      <p:sp>
        <p:nvSpPr>
          <p:cNvPr id="7" name="Title 1"/>
          <p:cNvSpPr txBox="1">
            <a:spLocks noGrp="1"/>
          </p:cNvSpPr>
          <p:nvPr>
            <p:ph type="title"/>
          </p:nvPr>
        </p:nvSpPr>
        <p:spPr>
          <a:xfrm>
            <a:off x="590546" y="2192347"/>
            <a:ext cx="1990091" cy="990011"/>
          </a:xfrm>
        </p:spPr>
        <p:txBody>
          <a:bodyPr anchor="t">
            <a:normAutofit/>
          </a:bodyPr>
          <a:lstStyle>
            <a:lvl1pPr>
              <a:lnSpc>
                <a:spcPts val="3540"/>
              </a:lnSpc>
              <a:defRPr lang="en-GB">
                <a:solidFill>
                  <a:srgbClr val="FFFFFF"/>
                </a:solidFill>
                <a:latin typeface="Barlow Condensed Medium" pitchFamily="2"/>
              </a:defRPr>
            </a:lvl1pPr>
          </a:lstStyle>
          <a:p>
            <a:pPr lvl="0"/>
            <a:r>
              <a:rPr lang="en-GB"/>
              <a:t>Firstname</a:t>
            </a:r>
            <a:br>
              <a:rPr lang="en-GB"/>
            </a:br>
            <a:r>
              <a:rPr lang="en-GB"/>
              <a:t>Lastname</a:t>
            </a:r>
            <a:endParaRPr lang="en-US"/>
          </a:p>
        </p:txBody>
      </p:sp>
      <p:sp>
        <p:nvSpPr>
          <p:cNvPr id="8" name="Text Placeholder 14"/>
          <p:cNvSpPr txBox="1">
            <a:spLocks noGrp="1"/>
          </p:cNvSpPr>
          <p:nvPr>
            <p:ph type="body" idx="4294967295"/>
          </p:nvPr>
        </p:nvSpPr>
        <p:spPr>
          <a:xfrm>
            <a:off x="590546" y="3861255"/>
            <a:ext cx="1990091" cy="179807"/>
          </a:xfrm>
        </p:spPr>
        <p:txBody>
          <a:bodyPr>
            <a:noAutofit/>
          </a:bodyPr>
          <a:lstStyle>
            <a:lvl1pPr marL="0" indent="0">
              <a:buNone/>
              <a:defRPr lang="en-GB" sz="1000">
                <a:solidFill>
                  <a:srgbClr val="FFFFFF"/>
                </a:solidFill>
                <a:latin typeface="Arial" pitchFamily="34"/>
                <a:cs typeface="Arial" pitchFamily="34"/>
              </a:defRPr>
            </a:lvl1pPr>
          </a:lstStyle>
          <a:p>
            <a:pPr lvl="0"/>
            <a:r>
              <a:rPr lang="en-GB"/>
              <a:t>City</a:t>
            </a:r>
            <a:endParaRPr lang="en-US"/>
          </a:p>
        </p:txBody>
      </p:sp>
      <p:sp>
        <p:nvSpPr>
          <p:cNvPr id="9" name="Text Placeholder 14"/>
          <p:cNvSpPr txBox="1">
            <a:spLocks noGrp="1"/>
          </p:cNvSpPr>
          <p:nvPr>
            <p:ph type="body" idx="4294967295"/>
          </p:nvPr>
        </p:nvSpPr>
        <p:spPr>
          <a:xfrm>
            <a:off x="590546" y="4330662"/>
            <a:ext cx="1990091" cy="179807"/>
          </a:xfrm>
        </p:spPr>
        <p:txBody>
          <a:bodyPr>
            <a:noAutofit/>
          </a:bodyPr>
          <a:lstStyle>
            <a:lvl1pPr marL="0" indent="0">
              <a:buNone/>
              <a:defRPr lang="en-GB" sz="1000" b="1">
                <a:solidFill>
                  <a:srgbClr val="FFFFFF"/>
                </a:solidFill>
                <a:latin typeface="Arial" pitchFamily="34"/>
                <a:cs typeface="Arial" pitchFamily="34"/>
              </a:defRPr>
            </a:lvl1pPr>
          </a:lstStyle>
          <a:p>
            <a:pPr lvl="0"/>
            <a:r>
              <a:rPr lang="en-GB"/>
              <a:t>CONTACT</a:t>
            </a:r>
            <a:endParaRPr lang="en-US"/>
          </a:p>
        </p:txBody>
      </p:sp>
      <p:sp>
        <p:nvSpPr>
          <p:cNvPr id="10" name="Text Placeholder 14"/>
          <p:cNvSpPr txBox="1">
            <a:spLocks noGrp="1"/>
          </p:cNvSpPr>
          <p:nvPr>
            <p:ph type="body" idx="4294967295"/>
          </p:nvPr>
        </p:nvSpPr>
        <p:spPr>
          <a:xfrm>
            <a:off x="590546" y="4574624"/>
            <a:ext cx="1990091" cy="461662"/>
          </a:xfrm>
        </p:spPr>
        <p:txBody>
          <a:bodyPr>
            <a:normAutofit/>
          </a:bodyPr>
          <a:lstStyle>
            <a:lvl1pPr marL="0" indent="0">
              <a:spcAft>
                <a:spcPts val="0"/>
              </a:spcAft>
              <a:buNone/>
              <a:defRPr lang="en-GB" sz="1000">
                <a:solidFill>
                  <a:srgbClr val="FFFFFF"/>
                </a:solidFill>
                <a:latin typeface="Arial" pitchFamily="34"/>
                <a:cs typeface="Arial" pitchFamily="34"/>
              </a:defRPr>
            </a:lvl1pPr>
          </a:lstStyle>
          <a:p>
            <a:pPr lvl="0"/>
            <a:r>
              <a:rPr lang="en-GB"/>
              <a:t>P: +XX.XXX.XXXX</a:t>
            </a:r>
            <a:br>
              <a:rPr lang="en-GB"/>
            </a:br>
            <a:r>
              <a:rPr lang="en-GB"/>
              <a:t>C: +XX.XXX.XXXX</a:t>
            </a:r>
            <a:br>
              <a:rPr lang="en-GB"/>
            </a:br>
            <a:r>
              <a:rPr lang="en-GB"/>
              <a:t>xxxxx.xxxxx@protiviti.com</a:t>
            </a:r>
            <a:endParaRPr lang="en-US"/>
          </a:p>
        </p:txBody>
      </p:sp>
      <p:sp>
        <p:nvSpPr>
          <p:cNvPr id="6" name="Slide Number Placeholder 2">
            <a:extLst>
              <a:ext uri="{FF2B5EF4-FFF2-40B4-BE49-F238E27FC236}">
                <a16:creationId xmlns:a16="http://schemas.microsoft.com/office/drawing/2014/main" id="{522CAF5D-E2E0-1F88-E451-FD95F9CF491E}"/>
              </a:ext>
            </a:extLst>
          </p:cNvPr>
          <p:cNvSpPr txBox="1">
            <a:spLocks noGrp="1"/>
          </p:cNvSpPr>
          <p:nvPr>
            <p:ph type="sldNum" sz="quarter" idx="10"/>
          </p:nvPr>
        </p:nvSpPr>
        <p:spPr>
          <a:xfrm>
            <a:off x="3082925" y="6356350"/>
            <a:ext cx="2743200" cy="365125"/>
          </a:xfrm>
        </p:spPr>
        <p:txBody>
          <a:bodyPr/>
          <a:lstStyle>
            <a:lvl1pPr>
              <a:defRPr/>
            </a:lvl1pPr>
          </a:lstStyle>
          <a:p>
            <a:pPr>
              <a:defRPr/>
            </a:pPr>
            <a:fld id="{4F575D67-FB95-4845-AD7B-4332D4B8AAEA}" type="slidenum">
              <a:rPr/>
              <a:pPr>
                <a:defRPr/>
              </a:pPr>
              <a:t>‹#›</a:t>
            </a:fld>
            <a:endParaRPr lang="en-US"/>
          </a:p>
        </p:txBody>
      </p:sp>
    </p:spTree>
    <p:extLst>
      <p:ext uri="{BB962C8B-B14F-4D97-AF65-F5344CB8AC3E}">
        <p14:creationId xmlns:p14="http://schemas.microsoft.com/office/powerpoint/2010/main" val="3771971391"/>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3376B0-DC7E-575C-8CDF-FC2734BFDE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AA38B5D-C508-3D5C-1477-ECDCCF86BE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D9D568E-6B57-C903-D533-CE9E6F764D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F223-D90E-448A-98AF-5FDED7DD95DB}" type="datetimeFigureOut">
              <a:rPr lang="en-GB" smtClean="0"/>
              <a:t>31/07/2026</a:t>
            </a:fld>
            <a:endParaRPr lang="en-GB"/>
          </a:p>
        </p:txBody>
      </p:sp>
      <p:sp>
        <p:nvSpPr>
          <p:cNvPr id="5" name="Footer Placeholder 4">
            <a:extLst>
              <a:ext uri="{FF2B5EF4-FFF2-40B4-BE49-F238E27FC236}">
                <a16:creationId xmlns:a16="http://schemas.microsoft.com/office/drawing/2014/main" id="{02FE44A8-6140-DEC7-9BB2-6CBFCD7F75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E940978A-8B25-4726-763A-580747A0E8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A10AC3-96BB-47F6-8ECD-DBB4AE484DD7}" type="slidenum">
              <a:rPr lang="en-GB" smtClean="0"/>
              <a:t>‹#›</a:t>
            </a:fld>
            <a:endParaRPr lang="en-GB"/>
          </a:p>
        </p:txBody>
      </p:sp>
    </p:spTree>
    <p:extLst>
      <p:ext uri="{BB962C8B-B14F-4D97-AF65-F5344CB8AC3E}">
        <p14:creationId xmlns:p14="http://schemas.microsoft.com/office/powerpoint/2010/main" val="12867065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B9A09-563F-432E-D7D4-D043B28F6293}"/>
            </a:ext>
          </a:extLst>
        </p:cNvPr>
        <p:cNvGrpSpPr/>
        <p:nvPr/>
      </p:nvGrpSpPr>
      <p:grpSpPr>
        <a:xfrm>
          <a:off x="0" y="0"/>
          <a:ext cx="0" cy="0"/>
          <a:chOff x="0" y="0"/>
          <a:chExt cx="0" cy="0"/>
        </a:xfrm>
      </p:grpSpPr>
      <p:sp>
        <p:nvSpPr>
          <p:cNvPr id="2" name="Title 138">
            <a:extLst>
              <a:ext uri="{FF2B5EF4-FFF2-40B4-BE49-F238E27FC236}">
                <a16:creationId xmlns:a16="http://schemas.microsoft.com/office/drawing/2014/main" id="{C45B6AD6-FBB8-0717-4A42-12712FC2351A}"/>
              </a:ext>
            </a:extLst>
          </p:cNvPr>
          <p:cNvSpPr txBox="1">
            <a:spLocks noGrp="1"/>
          </p:cNvSpPr>
          <p:nvPr>
            <p:ph type="title"/>
          </p:nvPr>
        </p:nvSpPr>
        <p:spPr>
          <a:xfrm>
            <a:off x="448633" y="2241849"/>
            <a:ext cx="1990725" cy="990600"/>
          </a:xfrm>
        </p:spPr>
        <p:txBody>
          <a:bodyPr rtlCol="0">
            <a:normAutofit fontScale="90000"/>
          </a:bodyPr>
          <a:lstStyle/>
          <a:p>
            <a:pPr>
              <a:defRPr/>
            </a:pPr>
            <a:r>
              <a:rPr lang="en-US" sz="3200" dirty="0"/>
              <a:t>Himanshu  </a:t>
            </a:r>
            <a:br>
              <a:rPr lang="en-US" sz="3200" dirty="0"/>
            </a:br>
            <a:r>
              <a:rPr lang="en-US" sz="3200" dirty="0"/>
              <a:t>Jhalani</a:t>
            </a:r>
            <a:br>
              <a:rPr lang="en-US" sz="3100" dirty="0"/>
            </a:br>
            <a:br>
              <a:rPr dirty="0"/>
            </a:br>
            <a:br>
              <a:rPr lang="en-US" altLang="ja-JP" sz="2400" dirty="0">
                <a:solidFill>
                  <a:srgbClr val="5D7B9A"/>
                </a:solidFill>
                <a:ea typeface="MS PGothic" panose="020B0600070205080204" pitchFamily="34" charset="-128"/>
                <a:cs typeface="Arial" panose="020B0604020202020204" pitchFamily="34" charset="0"/>
              </a:rPr>
            </a:br>
            <a:br>
              <a:rPr lang="en-US" dirty="0">
                <a:solidFill>
                  <a:srgbClr val="5D7B9A"/>
                </a:solidFill>
                <a:latin typeface="Arial" pitchFamily="34"/>
              </a:rPr>
            </a:br>
            <a:endParaRPr lang="en-US" dirty="0"/>
          </a:p>
        </p:txBody>
      </p:sp>
      <p:sp>
        <p:nvSpPr>
          <p:cNvPr id="3" name="Text Placeholder 145">
            <a:extLst>
              <a:ext uri="{FF2B5EF4-FFF2-40B4-BE49-F238E27FC236}">
                <a16:creationId xmlns:a16="http://schemas.microsoft.com/office/drawing/2014/main" id="{2FC05A3F-88C0-49BF-338F-9F1260782657}"/>
              </a:ext>
            </a:extLst>
          </p:cNvPr>
          <p:cNvSpPr txBox="1"/>
          <p:nvPr/>
        </p:nvSpPr>
        <p:spPr>
          <a:xfrm>
            <a:off x="2927350" y="276225"/>
            <a:ext cx="1800225" cy="5232400"/>
          </a:xfrm>
          <a:prstGeom prst="rect">
            <a:avLst/>
          </a:prstGeom>
          <a:noFill/>
          <a:ln cap="flat">
            <a:noFill/>
          </a:ln>
        </p:spPr>
        <p:txBody>
          <a:bodyPr lIns="0" tIns="0" rIns="0" bIns="0"/>
          <a:lstStyle/>
          <a:p>
            <a:pPr marL="0" marR="0" lvl="2" indent="0" algn="l" defTabSz="914354" rtl="0" eaLnBrk="1" fontAlgn="auto" latinLnBrk="0" hangingPunct="1">
              <a:lnSpc>
                <a:spcPct val="100000"/>
              </a:lnSpc>
              <a:spcBef>
                <a:spcPts val="400"/>
              </a:spcBef>
              <a:spcAft>
                <a:spcPts val="200"/>
              </a:spcAft>
              <a:buClrTx/>
              <a:buSzTx/>
              <a:buFontTx/>
              <a:buNone/>
              <a:tabLst/>
              <a:defRPr sz="1800" b="0" i="0" u="none" strike="noStrike" kern="0" cap="none" spc="0" baseline="0">
                <a:solidFill>
                  <a:srgbClr val="000000"/>
                </a:solidFill>
                <a:uFillTx/>
              </a:defRPr>
            </a:pPr>
            <a:r>
              <a:rPr kumimoji="0" lang="en-GB" sz="900" b="1" i="0" u="none" strike="noStrike" kern="0" cap="none" spc="0" normalizeH="0" baseline="0" noProof="0" dirty="0">
                <a:ln>
                  <a:noFill/>
                </a:ln>
                <a:solidFill>
                  <a:srgbClr val="00ACC4"/>
                </a:solidFill>
                <a:effectLst/>
                <a:uLnTx/>
                <a:uFillTx/>
                <a:latin typeface="Barlow" panose="00000500000000000000" pitchFamily="2" charset="0"/>
                <a:cs typeface="Arial" pitchFamily="34"/>
              </a:rPr>
              <a:t>AREAS OF EXPERTISE</a:t>
            </a:r>
          </a:p>
          <a:p>
            <a:pPr marL="171450" lvl="0" indent="-171450" hangingPunct="0">
              <a:spcBef>
                <a:spcPts val="150"/>
              </a:spcBef>
              <a:spcAft>
                <a:spcPts val="150"/>
              </a:spcAft>
              <a:buFont typeface="Arial" panose="020B0604020202020204" pitchFamily="34" charset="0"/>
              <a:buChar char="•"/>
              <a:tabLst>
                <a:tab pos="457200" algn="l"/>
              </a:tabLst>
              <a:defRPr sz="1800" b="0" i="0" u="none" strike="noStrike" kern="0" cap="none" spc="0" baseline="0">
                <a:solidFill>
                  <a:srgbClr val="000000"/>
                </a:solidFill>
                <a:uFillTx/>
              </a:defRPr>
            </a:pPr>
            <a:r>
              <a:rPr lang="en-US" sz="900" kern="0" dirty="0">
                <a:solidFill>
                  <a:srgbClr val="000000"/>
                </a:solidFill>
                <a:latin typeface="Barlow" panose="00000500000000000000" pitchFamily="2" charset="0"/>
                <a:ea typeface="MS Mincho"/>
                <a:cs typeface="Arial"/>
              </a:rPr>
              <a:t>Credit Risk Management</a:t>
            </a:r>
          </a:p>
          <a:p>
            <a:pPr marL="171450" lvl="0" indent="-171450" hangingPunct="0">
              <a:spcBef>
                <a:spcPts val="150"/>
              </a:spcBef>
              <a:spcAft>
                <a:spcPts val="150"/>
              </a:spcAft>
              <a:buFont typeface="Arial" panose="020B0604020202020204" pitchFamily="34" charset="0"/>
              <a:buChar char="•"/>
              <a:tabLst>
                <a:tab pos="457200" algn="l"/>
              </a:tabLst>
              <a:defRPr sz="1800" b="0" i="0" u="none" strike="noStrike" kern="0" cap="none" spc="0" baseline="0">
                <a:solidFill>
                  <a:srgbClr val="000000"/>
                </a:solidFill>
                <a:uFillTx/>
              </a:defRPr>
            </a:pPr>
            <a:r>
              <a:rPr lang="en-US" sz="900" kern="0" dirty="0">
                <a:solidFill>
                  <a:srgbClr val="000000"/>
                </a:solidFill>
                <a:latin typeface="Barlow" panose="00000500000000000000" pitchFamily="2" charset="0"/>
                <a:ea typeface="MS Mincho"/>
                <a:cs typeface="Arial"/>
              </a:rPr>
              <a:t>Regulatory Capital</a:t>
            </a:r>
          </a:p>
          <a:p>
            <a:pPr marL="171450" lvl="0" indent="-171450" hangingPunct="0">
              <a:spcBef>
                <a:spcPts val="150"/>
              </a:spcBef>
              <a:spcAft>
                <a:spcPts val="150"/>
              </a:spcAft>
              <a:buFont typeface="Arial" panose="020B0604020202020204" pitchFamily="34" charset="0"/>
              <a:buChar char="•"/>
              <a:tabLst>
                <a:tab pos="457200" algn="l"/>
              </a:tabLst>
              <a:defRPr sz="1800" b="0" i="0" u="none" strike="noStrike" kern="0" cap="none" spc="0" baseline="0">
                <a:solidFill>
                  <a:srgbClr val="000000"/>
                </a:solidFill>
                <a:uFillTx/>
              </a:defRPr>
            </a:pPr>
            <a:r>
              <a:rPr lang="en-US" sz="900" kern="0" dirty="0">
                <a:solidFill>
                  <a:srgbClr val="000000"/>
                </a:solidFill>
                <a:latin typeface="Barlow" panose="00000500000000000000" pitchFamily="2" charset="0"/>
                <a:ea typeface="MS Mincho"/>
                <a:cs typeface="Arial"/>
              </a:rPr>
              <a:t>Credit Underwriting</a:t>
            </a:r>
          </a:p>
          <a:p>
            <a:pPr marL="171450" lvl="0" indent="-171450" hangingPunct="0">
              <a:spcBef>
                <a:spcPts val="150"/>
              </a:spcBef>
              <a:spcAft>
                <a:spcPts val="150"/>
              </a:spcAft>
              <a:buFont typeface="Arial" panose="020B0604020202020204" pitchFamily="34" charset="0"/>
              <a:buChar char="•"/>
              <a:tabLst>
                <a:tab pos="457200" algn="l"/>
              </a:tabLst>
              <a:defRPr sz="1800" b="0" i="0" u="none" strike="noStrike" kern="0" cap="none" spc="0" baseline="0">
                <a:solidFill>
                  <a:srgbClr val="000000"/>
                </a:solidFill>
                <a:uFillTx/>
              </a:defRPr>
            </a:pPr>
            <a:r>
              <a:rPr lang="en-US" sz="900" kern="0" dirty="0">
                <a:solidFill>
                  <a:srgbClr val="000000"/>
                </a:solidFill>
                <a:latin typeface="Barlow" panose="00000500000000000000" pitchFamily="2" charset="0"/>
                <a:ea typeface="MS Mincho"/>
                <a:cs typeface="Arial"/>
              </a:rPr>
              <a:t>Credit Appraisal</a:t>
            </a:r>
          </a:p>
          <a:p>
            <a:pPr marL="171450" lvl="0" indent="-171450" hangingPunct="0">
              <a:spcBef>
                <a:spcPts val="150"/>
              </a:spcBef>
              <a:spcAft>
                <a:spcPts val="150"/>
              </a:spcAft>
              <a:buFont typeface="Arial" panose="020B0604020202020204" pitchFamily="34" charset="0"/>
              <a:buChar char="•"/>
              <a:tabLst>
                <a:tab pos="457200" algn="l"/>
              </a:tabLst>
              <a:defRPr sz="1800" b="0" i="0" u="none" strike="noStrike" kern="0" cap="none" spc="0" baseline="0">
                <a:solidFill>
                  <a:srgbClr val="000000"/>
                </a:solidFill>
                <a:uFillTx/>
              </a:defRPr>
            </a:pPr>
            <a:r>
              <a:rPr lang="en-US" sz="900" kern="0" dirty="0">
                <a:solidFill>
                  <a:srgbClr val="000000"/>
                </a:solidFill>
                <a:latin typeface="Barlow" panose="00000500000000000000" pitchFamily="2" charset="0"/>
                <a:ea typeface="MS Mincho"/>
                <a:cs typeface="Arial"/>
              </a:rPr>
              <a:t>Financial Statement Analysis</a:t>
            </a:r>
          </a:p>
          <a:p>
            <a:pPr marL="171450" lvl="0" indent="-171450" hangingPunct="0">
              <a:spcBef>
                <a:spcPts val="150"/>
              </a:spcBef>
              <a:spcAft>
                <a:spcPts val="150"/>
              </a:spcAft>
              <a:buFont typeface="Arial" panose="020B0604020202020204" pitchFamily="34" charset="0"/>
              <a:buChar char="•"/>
              <a:tabLst>
                <a:tab pos="457200" algn="l"/>
              </a:tabLst>
              <a:defRPr sz="1800" b="0" i="0" u="none" strike="noStrike" kern="0" cap="none" spc="0" baseline="0">
                <a:solidFill>
                  <a:srgbClr val="000000"/>
                </a:solidFill>
                <a:uFillTx/>
              </a:defRPr>
            </a:pPr>
            <a:r>
              <a:rPr lang="en-US" sz="900" kern="0" dirty="0">
                <a:solidFill>
                  <a:srgbClr val="000000"/>
                </a:solidFill>
                <a:latin typeface="Barlow" panose="00000500000000000000" pitchFamily="2" charset="0"/>
                <a:ea typeface="MS Mincho"/>
                <a:cs typeface="Arial"/>
              </a:rPr>
              <a:t>Basel II</a:t>
            </a:r>
          </a:p>
          <a:p>
            <a:pPr marL="171450" lvl="0" indent="-171450" hangingPunct="0">
              <a:spcBef>
                <a:spcPts val="150"/>
              </a:spcBef>
              <a:spcAft>
                <a:spcPts val="150"/>
              </a:spcAft>
              <a:buFont typeface="Arial" panose="020B0604020202020204" pitchFamily="34" charset="0"/>
              <a:buChar char="•"/>
              <a:tabLst>
                <a:tab pos="457200" algn="l"/>
              </a:tabLst>
              <a:defRPr sz="1800" b="0" i="0" u="none" strike="noStrike" kern="0" cap="none" spc="0" baseline="0">
                <a:solidFill>
                  <a:srgbClr val="000000"/>
                </a:solidFill>
                <a:uFillTx/>
              </a:defRPr>
            </a:pPr>
            <a:r>
              <a:rPr lang="en-US" sz="900" kern="0" dirty="0">
                <a:solidFill>
                  <a:srgbClr val="000000"/>
                </a:solidFill>
                <a:latin typeface="Barlow" panose="00000500000000000000" pitchFamily="2" charset="0"/>
                <a:ea typeface="MS Mincho"/>
                <a:cs typeface="Arial"/>
              </a:rPr>
              <a:t>Basel III</a:t>
            </a:r>
          </a:p>
          <a:p>
            <a:pPr marL="171450" lvl="0" indent="-171450" hangingPunct="0">
              <a:spcBef>
                <a:spcPts val="150"/>
              </a:spcBef>
              <a:spcAft>
                <a:spcPts val="150"/>
              </a:spcAft>
              <a:buFont typeface="Arial" panose="020B0604020202020204" pitchFamily="34" charset="0"/>
              <a:buChar char="•"/>
              <a:tabLst>
                <a:tab pos="457200" algn="l"/>
              </a:tabLst>
              <a:defRPr sz="1800" b="0" i="0" u="none" strike="noStrike" kern="0" cap="none" spc="0" baseline="0">
                <a:solidFill>
                  <a:srgbClr val="000000"/>
                </a:solidFill>
                <a:uFillTx/>
              </a:defRPr>
            </a:pPr>
            <a:r>
              <a:rPr lang="en-US" sz="900" kern="0" dirty="0">
                <a:solidFill>
                  <a:srgbClr val="000000"/>
                </a:solidFill>
                <a:latin typeface="Barlow" panose="00000500000000000000" pitchFamily="2" charset="0"/>
                <a:ea typeface="MS Mincho"/>
                <a:cs typeface="Arial"/>
              </a:rPr>
              <a:t>PD Analysis</a:t>
            </a:r>
          </a:p>
          <a:p>
            <a:pPr marL="171450" lvl="0" indent="-171450" hangingPunct="0">
              <a:spcBef>
                <a:spcPts val="150"/>
              </a:spcBef>
              <a:spcAft>
                <a:spcPts val="150"/>
              </a:spcAft>
              <a:buFont typeface="Arial" panose="020B0604020202020204" pitchFamily="34" charset="0"/>
              <a:buChar char="•"/>
              <a:tabLst>
                <a:tab pos="457200" algn="l"/>
              </a:tabLst>
              <a:defRPr sz="1800" b="0" i="0" u="none" strike="noStrike" kern="0" cap="none" spc="0" baseline="0">
                <a:solidFill>
                  <a:srgbClr val="000000"/>
                </a:solidFill>
                <a:uFillTx/>
              </a:defRPr>
            </a:pPr>
            <a:r>
              <a:rPr lang="en-US" sz="900" kern="0" dirty="0">
                <a:solidFill>
                  <a:srgbClr val="000000"/>
                </a:solidFill>
                <a:latin typeface="Barlow" panose="00000500000000000000" pitchFamily="2" charset="0"/>
                <a:ea typeface="MS Mincho"/>
                <a:cs typeface="Arial"/>
              </a:rPr>
              <a:t>LGD Analysis</a:t>
            </a:r>
          </a:p>
          <a:p>
            <a:pPr marL="171450" lvl="0" indent="-171450" hangingPunct="0">
              <a:spcBef>
                <a:spcPts val="150"/>
              </a:spcBef>
              <a:spcAft>
                <a:spcPts val="150"/>
              </a:spcAft>
              <a:buFont typeface="Arial" panose="020B0604020202020204" pitchFamily="34" charset="0"/>
              <a:buChar char="•"/>
              <a:tabLst>
                <a:tab pos="457200" algn="l"/>
              </a:tabLst>
              <a:defRPr sz="1800" b="0" i="0" u="none" strike="noStrike" kern="0" cap="none" spc="0" baseline="0">
                <a:solidFill>
                  <a:srgbClr val="000000"/>
                </a:solidFill>
                <a:uFillTx/>
              </a:defRPr>
            </a:pPr>
            <a:r>
              <a:rPr lang="en-US" sz="900" kern="0" dirty="0">
                <a:solidFill>
                  <a:srgbClr val="000000"/>
                </a:solidFill>
                <a:latin typeface="Barlow" panose="00000500000000000000" pitchFamily="2" charset="0"/>
                <a:ea typeface="MS Mincho"/>
                <a:cs typeface="Arial"/>
              </a:rPr>
              <a:t>EAD Analysis</a:t>
            </a:r>
          </a:p>
          <a:p>
            <a:pPr marL="171450" lvl="0" indent="-171450" hangingPunct="0">
              <a:spcBef>
                <a:spcPts val="150"/>
              </a:spcBef>
              <a:spcAft>
                <a:spcPts val="150"/>
              </a:spcAft>
              <a:buFont typeface="Arial" panose="020B0604020202020204" pitchFamily="34" charset="0"/>
              <a:buChar char="•"/>
              <a:tabLst>
                <a:tab pos="457200" algn="l"/>
              </a:tabLst>
              <a:defRPr sz="1800" b="0" i="0" u="none" strike="noStrike" kern="0" cap="none" spc="0" baseline="0">
                <a:solidFill>
                  <a:srgbClr val="000000"/>
                </a:solidFill>
                <a:uFillTx/>
              </a:defRPr>
            </a:pPr>
            <a:r>
              <a:rPr lang="en-US" sz="900" kern="0" dirty="0">
                <a:solidFill>
                  <a:srgbClr val="000000"/>
                </a:solidFill>
                <a:latin typeface="Barlow" panose="00000500000000000000" pitchFamily="2" charset="0"/>
                <a:ea typeface="MS Mincho"/>
                <a:cs typeface="Arial"/>
              </a:rPr>
              <a:t>Risk Rating Assessment</a:t>
            </a:r>
          </a:p>
          <a:p>
            <a:pPr marL="171450" lvl="0" indent="-171450" hangingPunct="0">
              <a:spcBef>
                <a:spcPts val="150"/>
              </a:spcBef>
              <a:spcAft>
                <a:spcPts val="150"/>
              </a:spcAft>
              <a:buFont typeface="Arial" panose="020B0604020202020204" pitchFamily="34" charset="0"/>
              <a:buChar char="•"/>
              <a:tabLst>
                <a:tab pos="457200" algn="l"/>
              </a:tabLst>
              <a:defRPr sz="1800" b="0" i="0" u="none" strike="noStrike" kern="0" cap="none" spc="0" baseline="0">
                <a:solidFill>
                  <a:srgbClr val="000000"/>
                </a:solidFill>
                <a:uFillTx/>
              </a:defRPr>
            </a:pPr>
            <a:r>
              <a:rPr lang="en-US" sz="900" kern="0" dirty="0">
                <a:solidFill>
                  <a:srgbClr val="000000"/>
                </a:solidFill>
                <a:latin typeface="Barlow" panose="00000500000000000000" pitchFamily="2" charset="0"/>
                <a:ea typeface="MS Mincho"/>
                <a:cs typeface="Arial"/>
              </a:rPr>
              <a:t>Covenant Testing</a:t>
            </a:r>
          </a:p>
          <a:p>
            <a:pPr marL="171450" lvl="0" indent="-171450" hangingPunct="0">
              <a:spcBef>
                <a:spcPts val="150"/>
              </a:spcBef>
              <a:spcAft>
                <a:spcPts val="150"/>
              </a:spcAft>
              <a:buFont typeface="Arial" panose="020B0604020202020204" pitchFamily="34" charset="0"/>
              <a:buChar char="•"/>
              <a:tabLst>
                <a:tab pos="457200" algn="l"/>
              </a:tabLst>
              <a:defRPr sz="1800" b="0" i="0" u="none" strike="noStrike" kern="0" cap="none" spc="0" baseline="0">
                <a:solidFill>
                  <a:srgbClr val="000000"/>
                </a:solidFill>
                <a:uFillTx/>
              </a:defRPr>
            </a:pPr>
            <a:r>
              <a:rPr lang="en-US" sz="900" kern="0" dirty="0">
                <a:solidFill>
                  <a:srgbClr val="000000"/>
                </a:solidFill>
                <a:latin typeface="Barlow" panose="00000500000000000000" pitchFamily="2" charset="0"/>
                <a:ea typeface="MS Mincho"/>
                <a:cs typeface="Arial"/>
              </a:rPr>
              <a:t>Portfolio Risk Management</a:t>
            </a:r>
          </a:p>
          <a:p>
            <a:pPr marL="171450" lvl="0" indent="-171450" hangingPunct="0">
              <a:spcBef>
                <a:spcPts val="150"/>
              </a:spcBef>
              <a:spcAft>
                <a:spcPts val="150"/>
              </a:spcAft>
              <a:buFont typeface="Arial" panose="020B0604020202020204" pitchFamily="34" charset="0"/>
              <a:buChar char="•"/>
              <a:tabLst>
                <a:tab pos="457200" algn="l"/>
              </a:tabLst>
              <a:defRPr sz="1800" b="0" i="0" u="none" strike="noStrike" kern="0" cap="none" spc="0" baseline="0">
                <a:solidFill>
                  <a:srgbClr val="000000"/>
                </a:solidFill>
                <a:uFillTx/>
              </a:defRPr>
            </a:pPr>
            <a:r>
              <a:rPr lang="en-US" sz="900" kern="0" dirty="0">
                <a:solidFill>
                  <a:srgbClr val="000000"/>
                </a:solidFill>
                <a:latin typeface="Barlow" panose="00000500000000000000" pitchFamily="2" charset="0"/>
                <a:ea typeface="MS Mincho"/>
                <a:cs typeface="Arial"/>
              </a:rPr>
              <a:t>Regulatory Reporting</a:t>
            </a:r>
          </a:p>
          <a:p>
            <a:pPr marL="171450" lvl="0" indent="-171450" hangingPunct="0">
              <a:spcBef>
                <a:spcPts val="150"/>
              </a:spcBef>
              <a:spcAft>
                <a:spcPts val="150"/>
              </a:spcAft>
              <a:buFont typeface="Arial" panose="020B0604020202020204" pitchFamily="34" charset="0"/>
              <a:buChar char="•"/>
              <a:tabLst>
                <a:tab pos="457200" algn="l"/>
              </a:tabLst>
              <a:defRPr sz="1800" b="0" i="0" u="none" strike="noStrike" kern="0" cap="none" spc="0" baseline="0">
                <a:solidFill>
                  <a:srgbClr val="000000"/>
                </a:solidFill>
                <a:uFillTx/>
              </a:defRPr>
            </a:pPr>
            <a:r>
              <a:rPr lang="en-US" sz="900" kern="0" dirty="0">
                <a:solidFill>
                  <a:srgbClr val="000000"/>
                </a:solidFill>
                <a:latin typeface="Barlow" panose="00000500000000000000" pitchFamily="2" charset="0"/>
                <a:ea typeface="MS Mincho"/>
                <a:cs typeface="Arial"/>
              </a:rPr>
              <a:t>Credit Due Diligence</a:t>
            </a:r>
          </a:p>
          <a:p>
            <a:pPr marL="171450" lvl="0" indent="-171450" hangingPunct="0">
              <a:spcBef>
                <a:spcPts val="150"/>
              </a:spcBef>
              <a:spcAft>
                <a:spcPts val="150"/>
              </a:spcAft>
              <a:buFont typeface="Arial" panose="020B0604020202020204" pitchFamily="34" charset="0"/>
              <a:buChar char="•"/>
              <a:tabLst>
                <a:tab pos="457200" algn="l"/>
              </a:tabLst>
              <a:defRPr sz="1800" b="0" i="0" u="none" strike="noStrike" kern="0" cap="none" spc="0" baseline="0">
                <a:solidFill>
                  <a:srgbClr val="000000"/>
                </a:solidFill>
                <a:uFillTx/>
              </a:defRPr>
            </a:pPr>
            <a:r>
              <a:rPr lang="en-US" sz="900" kern="0" dirty="0">
                <a:solidFill>
                  <a:srgbClr val="000000"/>
                </a:solidFill>
                <a:latin typeface="Barlow" panose="00000500000000000000" pitchFamily="2" charset="0"/>
                <a:ea typeface="MS Mincho"/>
                <a:cs typeface="Arial"/>
              </a:rPr>
              <a:t>RAROC</a:t>
            </a:r>
          </a:p>
          <a:p>
            <a:pPr marL="171450" lvl="0" indent="-171450" hangingPunct="0">
              <a:spcBef>
                <a:spcPts val="150"/>
              </a:spcBef>
              <a:spcAft>
                <a:spcPts val="150"/>
              </a:spcAft>
              <a:buFont typeface="Arial" panose="020B0604020202020204" pitchFamily="34" charset="0"/>
              <a:buChar char="•"/>
              <a:tabLst>
                <a:tab pos="457200" algn="l"/>
              </a:tabLst>
              <a:defRPr sz="1800" b="0" i="0" u="none" strike="noStrike" kern="0" cap="none" spc="0" baseline="0">
                <a:solidFill>
                  <a:srgbClr val="000000"/>
                </a:solidFill>
                <a:uFillTx/>
              </a:defRPr>
            </a:pPr>
            <a:r>
              <a:rPr lang="en-US" sz="900" kern="0" dirty="0">
                <a:solidFill>
                  <a:srgbClr val="000000"/>
                </a:solidFill>
                <a:latin typeface="Barlow" panose="00000500000000000000" pitchFamily="2" charset="0"/>
                <a:ea typeface="MS Mincho"/>
                <a:cs typeface="Arial"/>
              </a:rPr>
              <a:t>Data Validation</a:t>
            </a:r>
          </a:p>
          <a:p>
            <a:pPr marL="171450" lvl="0" indent="-171450" hangingPunct="0">
              <a:spcBef>
                <a:spcPts val="150"/>
              </a:spcBef>
              <a:spcAft>
                <a:spcPts val="150"/>
              </a:spcAft>
              <a:buFont typeface="Arial" panose="020B0604020202020204" pitchFamily="34" charset="0"/>
              <a:buChar char="•"/>
              <a:tabLst>
                <a:tab pos="457200" algn="l"/>
              </a:tabLst>
              <a:defRPr sz="1800" b="0" i="0" u="none" strike="noStrike" kern="0" cap="none" spc="0" baseline="0">
                <a:solidFill>
                  <a:srgbClr val="000000"/>
                </a:solidFill>
                <a:uFillTx/>
              </a:defRPr>
            </a:pPr>
            <a:r>
              <a:rPr lang="en-US" sz="900" kern="0" dirty="0">
                <a:solidFill>
                  <a:srgbClr val="000000"/>
                </a:solidFill>
                <a:latin typeface="Barlow" panose="00000500000000000000" pitchFamily="2" charset="0"/>
                <a:ea typeface="MS Mincho"/>
                <a:cs typeface="Arial"/>
              </a:rPr>
              <a:t>Data Reconciliation</a:t>
            </a:r>
          </a:p>
          <a:p>
            <a:pPr marL="171450" lvl="0" indent="-171450" hangingPunct="0">
              <a:spcBef>
                <a:spcPts val="150"/>
              </a:spcBef>
              <a:spcAft>
                <a:spcPts val="150"/>
              </a:spcAft>
              <a:buFont typeface="Arial" panose="020B0604020202020204" pitchFamily="34" charset="0"/>
              <a:buChar char="•"/>
              <a:tabLst>
                <a:tab pos="457200" algn="l"/>
              </a:tabLst>
              <a:defRPr sz="1800" b="0" i="0" u="none" strike="noStrike" kern="0" cap="none" spc="0" baseline="0">
                <a:solidFill>
                  <a:srgbClr val="000000"/>
                </a:solidFill>
                <a:uFillTx/>
              </a:defRPr>
            </a:pPr>
            <a:r>
              <a:rPr lang="en-US" sz="900" kern="0" dirty="0">
                <a:solidFill>
                  <a:srgbClr val="000000"/>
                </a:solidFill>
                <a:latin typeface="Barlow" panose="00000500000000000000" pitchFamily="2" charset="0"/>
                <a:ea typeface="MS Mincho"/>
                <a:cs typeface="Arial"/>
              </a:rPr>
              <a:t>Advanced Excel</a:t>
            </a:r>
          </a:p>
          <a:p>
            <a:pPr marL="171450" lvl="0" indent="-171450" hangingPunct="0">
              <a:spcBef>
                <a:spcPts val="150"/>
              </a:spcBef>
              <a:spcAft>
                <a:spcPts val="150"/>
              </a:spcAft>
              <a:buFont typeface="Arial" panose="020B0604020202020204" pitchFamily="34" charset="0"/>
              <a:buChar char="•"/>
              <a:tabLst>
                <a:tab pos="457200" algn="l"/>
              </a:tabLst>
              <a:defRPr sz="1800" b="0" i="0" u="none" strike="noStrike" kern="0" cap="none" spc="0" baseline="0">
                <a:solidFill>
                  <a:srgbClr val="000000"/>
                </a:solidFill>
                <a:uFillTx/>
              </a:defRPr>
            </a:pPr>
            <a:r>
              <a:rPr lang="en-US" sz="900" kern="0" dirty="0">
                <a:solidFill>
                  <a:srgbClr val="000000"/>
                </a:solidFill>
                <a:latin typeface="Barlow" panose="00000500000000000000" pitchFamily="2" charset="0"/>
                <a:ea typeface="MS Mincho"/>
                <a:cs typeface="Arial"/>
              </a:rPr>
              <a:t>Power BI</a:t>
            </a:r>
          </a:p>
          <a:p>
            <a:pPr marL="0" marR="0" lvl="0" indent="0" algn="l" defTabSz="914400" rtl="0" eaLnBrk="0" fontAlgn="auto" latinLnBrk="0" hangingPunct="0">
              <a:lnSpc>
                <a:spcPct val="100000"/>
              </a:lnSpc>
              <a:spcBef>
                <a:spcPts val="150"/>
              </a:spcBef>
              <a:spcAft>
                <a:spcPts val="150"/>
              </a:spcAft>
              <a:buClrTx/>
              <a:buSzTx/>
              <a:buFontTx/>
              <a:buNone/>
              <a:tabLst>
                <a:tab pos="457200" algn="l"/>
              </a:tabLst>
              <a:defRPr/>
            </a:pPr>
            <a:endParaRPr kumimoji="0" lang="en-US" sz="900" b="0" i="0" u="none" strike="noStrike" kern="0" cap="none" spc="0" normalizeH="0" baseline="0" noProof="0" dirty="0">
              <a:ln>
                <a:noFill/>
              </a:ln>
              <a:solidFill>
                <a:srgbClr val="333333"/>
              </a:solidFill>
              <a:effectLst/>
              <a:uLnTx/>
              <a:uFillTx/>
              <a:latin typeface="Barlow" panose="00000500000000000000" pitchFamily="2" charset="0"/>
              <a:ea typeface="MS Mincho" pitchFamily="49"/>
              <a:cs typeface="Arial" pitchFamily="34"/>
            </a:endParaRPr>
          </a:p>
          <a:p>
            <a:pPr marL="0" marR="0" lvl="0" indent="0" algn="l" defTabSz="914400" rtl="0" eaLnBrk="1" fontAlgn="auto" latinLnBrk="0" hangingPunct="0">
              <a:lnSpc>
                <a:spcPct val="100000"/>
              </a:lnSpc>
              <a:spcBef>
                <a:spcPts val="400"/>
              </a:spcBef>
              <a:spcAft>
                <a:spcPts val="200"/>
              </a:spcAft>
              <a:buClrTx/>
              <a:buSzTx/>
              <a:buFontTx/>
              <a:buNone/>
              <a:tabLst>
                <a:tab pos="457200" algn="l"/>
              </a:tabLst>
              <a:defRPr sz="1800" b="0" i="0" u="none" strike="noStrike" kern="0" cap="none" spc="0" baseline="0">
                <a:solidFill>
                  <a:srgbClr val="000000"/>
                </a:solidFill>
                <a:uFillTx/>
              </a:defRPr>
            </a:pPr>
            <a:r>
              <a:rPr kumimoji="0" lang="en-GB" sz="900" b="1" i="0" u="none" strike="noStrike" kern="0" cap="none" spc="0" normalizeH="0" baseline="0" noProof="0" dirty="0">
                <a:ln>
                  <a:noFill/>
                </a:ln>
                <a:solidFill>
                  <a:srgbClr val="00ACC4"/>
                </a:solidFill>
                <a:effectLst/>
                <a:uLnTx/>
                <a:uFillTx/>
                <a:latin typeface="Barlow" panose="00000500000000000000" pitchFamily="2" charset="0"/>
                <a:cs typeface="Arial" pitchFamily="34"/>
              </a:rPr>
              <a:t>INDUSTRY EXPERTISE</a:t>
            </a:r>
          </a:p>
          <a:p>
            <a:pPr marL="171450" indent="-171450" hangingPunct="0">
              <a:spcBef>
                <a:spcPts val="150"/>
              </a:spcBef>
              <a:spcAft>
                <a:spcPts val="150"/>
              </a:spcAft>
              <a:buFont typeface="Arial" panose="020B0604020202020204" pitchFamily="34" charset="0"/>
              <a:buChar char="•"/>
              <a:tabLst>
                <a:tab pos="457200" algn="l"/>
              </a:tabLst>
              <a:defRPr sz="1800" b="0" i="0" u="none" strike="noStrike" kern="0" cap="none" spc="0" baseline="0">
                <a:solidFill>
                  <a:srgbClr val="000000"/>
                </a:solidFill>
                <a:uFillTx/>
              </a:defRPr>
            </a:pPr>
            <a:r>
              <a:rPr lang="en-US" sz="900" kern="0" dirty="0">
                <a:solidFill>
                  <a:srgbClr val="000000"/>
                </a:solidFill>
                <a:latin typeface="Barlow" panose="00000500000000000000" pitchFamily="2" charset="0"/>
                <a:ea typeface="MS Mincho"/>
                <a:cs typeface="Arial"/>
              </a:rPr>
              <a:t>Banking &amp; Financial Services</a:t>
            </a:r>
          </a:p>
          <a:p>
            <a:pPr marL="171450" indent="-171450" hangingPunct="0">
              <a:spcBef>
                <a:spcPts val="150"/>
              </a:spcBef>
              <a:spcAft>
                <a:spcPts val="150"/>
              </a:spcAft>
              <a:buFont typeface="Arial" panose="020B0604020202020204" pitchFamily="34" charset="0"/>
              <a:buChar char="•"/>
              <a:tabLst>
                <a:tab pos="457200" algn="l"/>
              </a:tabLst>
              <a:defRPr sz="1800" b="0" i="0" u="none" strike="noStrike" kern="0" cap="none" spc="0" baseline="0">
                <a:solidFill>
                  <a:srgbClr val="000000"/>
                </a:solidFill>
                <a:uFillTx/>
              </a:defRPr>
            </a:pPr>
            <a:r>
              <a:rPr lang="en-US" sz="900" kern="0" dirty="0">
                <a:solidFill>
                  <a:srgbClr val="000000"/>
                </a:solidFill>
                <a:latin typeface="Barlow" panose="00000500000000000000" pitchFamily="2" charset="0"/>
                <a:ea typeface="MS Mincho"/>
                <a:cs typeface="Arial"/>
              </a:rPr>
              <a:t>Credit Risk Management</a:t>
            </a:r>
          </a:p>
          <a:p>
            <a:pPr marL="171450" indent="-171450" hangingPunct="0">
              <a:spcBef>
                <a:spcPts val="150"/>
              </a:spcBef>
              <a:spcAft>
                <a:spcPts val="150"/>
              </a:spcAft>
              <a:buFont typeface="Arial" panose="020B0604020202020204" pitchFamily="34" charset="0"/>
              <a:buChar char="•"/>
              <a:tabLst>
                <a:tab pos="457200" algn="l"/>
              </a:tabLst>
              <a:defRPr sz="1800" b="0" i="0" u="none" strike="noStrike" kern="0" cap="none" spc="0" baseline="0">
                <a:solidFill>
                  <a:srgbClr val="000000"/>
                </a:solidFill>
                <a:uFillTx/>
              </a:defRPr>
            </a:pPr>
            <a:r>
              <a:rPr lang="en-US" sz="900" kern="0" dirty="0">
                <a:solidFill>
                  <a:srgbClr val="000000"/>
                </a:solidFill>
                <a:latin typeface="Barlow" panose="00000500000000000000" pitchFamily="2" charset="0"/>
                <a:ea typeface="MS Mincho"/>
                <a:cs typeface="Arial"/>
              </a:rPr>
              <a:t>Regulatory Capital</a:t>
            </a:r>
          </a:p>
          <a:p>
            <a:pPr marL="171450" indent="-171450" hangingPunct="0">
              <a:spcBef>
                <a:spcPts val="150"/>
              </a:spcBef>
              <a:spcAft>
                <a:spcPts val="150"/>
              </a:spcAft>
              <a:buFont typeface="Arial" panose="020B0604020202020204" pitchFamily="34" charset="0"/>
              <a:buChar char="•"/>
              <a:tabLst>
                <a:tab pos="457200" algn="l"/>
              </a:tabLst>
              <a:defRPr sz="1800" b="0" i="0" u="none" strike="noStrike" kern="0" cap="none" spc="0" baseline="0">
                <a:solidFill>
                  <a:srgbClr val="000000"/>
                </a:solidFill>
                <a:uFillTx/>
              </a:defRPr>
            </a:pPr>
            <a:r>
              <a:rPr lang="en-US" sz="900" kern="0" dirty="0">
                <a:solidFill>
                  <a:srgbClr val="000000"/>
                </a:solidFill>
                <a:latin typeface="Barlow" panose="00000500000000000000" pitchFamily="2" charset="0"/>
                <a:ea typeface="MS Mincho"/>
                <a:cs typeface="Arial"/>
              </a:rPr>
              <a:t>Commercial Lending</a:t>
            </a:r>
          </a:p>
          <a:p>
            <a:pPr marL="171450" marR="0" lvl="0" indent="-171450" algn="l" defTabSz="914400" rtl="0" eaLnBrk="0" fontAlgn="auto" latinLnBrk="0" hangingPunct="0">
              <a:lnSpc>
                <a:spcPct val="100000"/>
              </a:lnSpc>
              <a:spcBef>
                <a:spcPts val="100"/>
              </a:spcBef>
              <a:spcAft>
                <a:spcPts val="100"/>
              </a:spcAft>
              <a:buClrTx/>
              <a:buSzTx/>
              <a:buFont typeface="Arial" panose="020B0604020202020204" pitchFamily="34" charset="0"/>
              <a:buChar char="•"/>
              <a:tabLst>
                <a:tab pos="457200" algn="l"/>
              </a:tabLst>
              <a:defRPr/>
            </a:pPr>
            <a:endParaRPr kumimoji="0" lang="en-US" sz="900" b="0" i="0" u="none" strike="noStrike" kern="1200" cap="none" spc="0" normalizeH="0" baseline="0" noProof="0" dirty="0">
              <a:ln>
                <a:noFill/>
              </a:ln>
              <a:solidFill>
                <a:srgbClr val="3C3D3E"/>
              </a:solidFill>
              <a:effectLst/>
              <a:uLnTx/>
              <a:uFillTx/>
              <a:latin typeface="Barlow" panose="00000500000000000000" pitchFamily="2" charset="0"/>
              <a:ea typeface="MS Mincho"/>
              <a:cs typeface="Arial"/>
            </a:endParaRPr>
          </a:p>
          <a:p>
            <a:pPr marL="0" marR="0" lvl="0" indent="0" algn="l" defTabSz="914400" rtl="0" eaLnBrk="1" fontAlgn="auto" latinLnBrk="0" hangingPunct="0">
              <a:lnSpc>
                <a:spcPct val="100000"/>
              </a:lnSpc>
              <a:spcBef>
                <a:spcPts val="400"/>
              </a:spcBef>
              <a:spcAft>
                <a:spcPts val="200"/>
              </a:spcAft>
              <a:buClrTx/>
              <a:buSzTx/>
              <a:buFontTx/>
              <a:buNone/>
              <a:tabLst>
                <a:tab pos="457200" algn="l"/>
              </a:tabLst>
              <a:defRPr sz="1800" b="0" i="0" u="none" strike="noStrike" kern="0" cap="none" spc="0" baseline="0">
                <a:solidFill>
                  <a:srgbClr val="000000"/>
                </a:solidFill>
                <a:uFillTx/>
              </a:defRPr>
            </a:pPr>
            <a:r>
              <a:rPr kumimoji="0" lang="en-US" sz="900" b="1" i="0" u="none" strike="noStrike" kern="0" cap="none" spc="0" normalizeH="0" baseline="0" noProof="0" dirty="0">
                <a:ln>
                  <a:noFill/>
                </a:ln>
                <a:solidFill>
                  <a:srgbClr val="00ACC4"/>
                </a:solidFill>
                <a:effectLst/>
                <a:uLnTx/>
                <a:uFillTx/>
                <a:latin typeface="Barlow" panose="00000500000000000000" pitchFamily="2" charset="0"/>
                <a:ea typeface="MS Mincho"/>
                <a:cs typeface="Arial"/>
              </a:rPr>
              <a:t>EDUCATION</a:t>
            </a:r>
          </a:p>
          <a:p>
            <a:pPr marL="171450" indent="-171450" hangingPunct="0">
              <a:spcBef>
                <a:spcPts val="150"/>
              </a:spcBef>
              <a:spcAft>
                <a:spcPts val="150"/>
              </a:spcAft>
              <a:buFont typeface="Arial" panose="020B0604020202020204" pitchFamily="34" charset="0"/>
              <a:buChar char="•"/>
              <a:tabLst>
                <a:tab pos="457200" algn="l"/>
              </a:tabLst>
              <a:defRPr sz="1800" b="0" i="0" u="none" strike="noStrike" kern="0" cap="none" spc="0" baseline="0">
                <a:solidFill>
                  <a:srgbClr val="000000"/>
                </a:solidFill>
                <a:uFillTx/>
              </a:defRPr>
            </a:pPr>
            <a:r>
              <a:rPr lang="en-US" sz="900" kern="0" dirty="0">
                <a:solidFill>
                  <a:srgbClr val="000000"/>
                </a:solidFill>
                <a:latin typeface="Barlow" panose="00000500000000000000" pitchFamily="2" charset="0"/>
                <a:ea typeface="MS Mincho"/>
                <a:cs typeface="Arial"/>
              </a:rPr>
              <a:t>Bachelor of Commerce – Accountancy</a:t>
            </a:r>
          </a:p>
          <a:p>
            <a:pPr marL="171450" indent="-171450" hangingPunct="0">
              <a:spcBef>
                <a:spcPts val="150"/>
              </a:spcBef>
              <a:spcAft>
                <a:spcPts val="150"/>
              </a:spcAft>
              <a:buFont typeface="Arial" panose="020B0604020202020204" pitchFamily="34" charset="0"/>
              <a:buChar char="•"/>
              <a:tabLst>
                <a:tab pos="457200" algn="l"/>
              </a:tabLst>
              <a:defRPr sz="1800" b="0" i="0" u="none" strike="noStrike" kern="0" cap="none" spc="0" baseline="0">
                <a:solidFill>
                  <a:srgbClr val="000000"/>
                </a:solidFill>
                <a:uFillTx/>
              </a:defRPr>
            </a:pPr>
            <a:r>
              <a:rPr lang="en-US" sz="900" kern="0" dirty="0">
                <a:solidFill>
                  <a:srgbClr val="000000"/>
                </a:solidFill>
                <a:latin typeface="Barlow" panose="00000500000000000000" pitchFamily="2" charset="0"/>
                <a:ea typeface="MS Mincho"/>
                <a:cs typeface="Arial"/>
              </a:rPr>
              <a:t>Master of Business Administration – Finance &amp; Marketing</a:t>
            </a:r>
          </a:p>
          <a:p>
            <a:pPr marL="171450" indent="-171450" hangingPunct="0">
              <a:spcBef>
                <a:spcPts val="150"/>
              </a:spcBef>
              <a:spcAft>
                <a:spcPts val="150"/>
              </a:spcAft>
              <a:buFont typeface="Arial" panose="020B0604020202020204" pitchFamily="34" charset="0"/>
              <a:buChar char="•"/>
              <a:tabLst>
                <a:tab pos="457200" algn="l"/>
              </a:tabLst>
              <a:defRPr sz="1800" b="0" i="0" u="none" strike="noStrike" kern="0" cap="none" spc="0" baseline="0">
                <a:solidFill>
                  <a:srgbClr val="000000"/>
                </a:solidFill>
                <a:uFillTx/>
              </a:defRPr>
            </a:pPr>
            <a:endParaRPr lang="en-US" sz="900" kern="0" dirty="0">
              <a:solidFill>
                <a:srgbClr val="000000"/>
              </a:solidFill>
              <a:latin typeface="Barlow" panose="00000500000000000000" pitchFamily="2" charset="0"/>
              <a:ea typeface="MS Mincho"/>
              <a:cs typeface="Arial"/>
            </a:endParaRPr>
          </a:p>
          <a:p>
            <a:pPr marL="0" marR="0" lvl="0" indent="0" algn="l" defTabSz="914400" rtl="0" eaLnBrk="1" fontAlgn="auto" latinLnBrk="0" hangingPunct="0">
              <a:lnSpc>
                <a:spcPct val="100000"/>
              </a:lnSpc>
              <a:spcBef>
                <a:spcPts val="400"/>
              </a:spcBef>
              <a:spcAft>
                <a:spcPts val="200"/>
              </a:spcAft>
              <a:buClrTx/>
              <a:buSzTx/>
              <a:buFontTx/>
              <a:buNone/>
              <a:tabLst>
                <a:tab pos="457200" algn="l"/>
              </a:tabLst>
              <a:defRPr sz="1800" b="0" i="0" u="none" strike="noStrike" kern="0" cap="none" spc="0" baseline="0">
                <a:solidFill>
                  <a:srgbClr val="000000"/>
                </a:solidFill>
                <a:uFillTx/>
              </a:defRPr>
            </a:pPr>
            <a:endParaRPr kumimoji="0" lang="en-US" sz="900" b="1" i="0" u="none" strike="noStrike" kern="0" cap="none" spc="0" normalizeH="0" baseline="0" noProof="0" dirty="0">
              <a:ln>
                <a:noFill/>
              </a:ln>
              <a:solidFill>
                <a:srgbClr val="00ACC4"/>
              </a:solidFill>
              <a:effectLst/>
              <a:uLnTx/>
              <a:uFillTx/>
              <a:latin typeface="Barlow" panose="00000500000000000000" pitchFamily="2" charset="0"/>
              <a:ea typeface="MS Mincho"/>
              <a:cs typeface="Arial"/>
            </a:endParaRPr>
          </a:p>
          <a:p>
            <a:pPr marL="171450" marR="0" lvl="0" indent="-171450" algn="l" defTabSz="914400" rtl="0" eaLnBrk="1" fontAlgn="auto" latinLnBrk="0" hangingPunct="0">
              <a:lnSpc>
                <a:spcPct val="100000"/>
              </a:lnSpc>
              <a:spcBef>
                <a:spcPts val="400"/>
              </a:spcBef>
              <a:spcAft>
                <a:spcPts val="200"/>
              </a:spcAft>
              <a:buClrTx/>
              <a:buSzTx/>
              <a:buFont typeface="Arial" panose="020B0604020202020204" pitchFamily="34" charset="0"/>
              <a:buChar char="•"/>
              <a:tabLst>
                <a:tab pos="457200" algn="l"/>
              </a:tabLst>
              <a:defRPr sz="1800" b="0" i="0" u="none" strike="noStrike" kern="0" cap="none" spc="0" baseline="0">
                <a:solidFill>
                  <a:srgbClr val="000000"/>
                </a:solidFill>
                <a:uFillTx/>
              </a:defRPr>
            </a:pPr>
            <a:endParaRPr kumimoji="0" lang="en-US" sz="900" b="1" i="0" u="none" strike="noStrike" kern="0" cap="none" spc="0" normalizeH="0" baseline="0" noProof="0" dirty="0">
              <a:ln>
                <a:noFill/>
              </a:ln>
              <a:solidFill>
                <a:srgbClr val="00ACC4"/>
              </a:solidFill>
              <a:effectLst/>
              <a:uLnTx/>
              <a:uFillTx/>
              <a:latin typeface="Barlow" panose="00000500000000000000" pitchFamily="2" charset="0"/>
              <a:ea typeface="MS Mincho"/>
              <a:cs typeface="Arial"/>
            </a:endParaRPr>
          </a:p>
          <a:p>
            <a:pPr marL="171450" marR="0" lvl="0" indent="-171450" algn="l" defTabSz="914400" rtl="0" eaLnBrk="1" fontAlgn="auto" latinLnBrk="0" hangingPunct="0">
              <a:lnSpc>
                <a:spcPct val="100000"/>
              </a:lnSpc>
              <a:spcBef>
                <a:spcPts val="150"/>
              </a:spcBef>
              <a:spcAft>
                <a:spcPts val="150"/>
              </a:spcAft>
              <a:buClrTx/>
              <a:buSzTx/>
              <a:buFont typeface="Arial" panose="020B0604020202020204" pitchFamily="34" charset="0"/>
              <a:buChar char="•"/>
              <a:tabLst>
                <a:tab pos="457200" algn="l"/>
              </a:tabLst>
              <a:defRPr sz="1800" b="0" i="0" u="none" strike="noStrike" kern="0" cap="none" spc="0" baseline="0">
                <a:solidFill>
                  <a:srgbClr val="000000"/>
                </a:solidFill>
                <a:uFillTx/>
              </a:defRPr>
            </a:pPr>
            <a:endParaRPr kumimoji="0" lang="en-US" sz="900" b="1" i="0" u="none" strike="noStrike" kern="0" cap="none" spc="0" normalizeH="0" baseline="0" noProof="0" dirty="0">
              <a:ln>
                <a:noFill/>
              </a:ln>
              <a:solidFill>
                <a:srgbClr val="00ACC4"/>
              </a:solidFill>
              <a:effectLst/>
              <a:uLnTx/>
              <a:uFillTx/>
              <a:latin typeface="Barlow" panose="00000500000000000000" pitchFamily="2" charset="0"/>
              <a:ea typeface="MS Mincho"/>
              <a:cs typeface="Arial"/>
            </a:endParaRPr>
          </a:p>
        </p:txBody>
      </p:sp>
      <p:sp>
        <p:nvSpPr>
          <p:cNvPr id="4" name="Text Placeholder 144">
            <a:extLst>
              <a:ext uri="{FF2B5EF4-FFF2-40B4-BE49-F238E27FC236}">
                <a16:creationId xmlns:a16="http://schemas.microsoft.com/office/drawing/2014/main" id="{8D0EE6E6-4543-7AB0-F39E-8600E0291205}"/>
              </a:ext>
            </a:extLst>
          </p:cNvPr>
          <p:cNvSpPr txBox="1"/>
          <p:nvPr/>
        </p:nvSpPr>
        <p:spPr>
          <a:xfrm>
            <a:off x="4940300" y="276225"/>
            <a:ext cx="6854825" cy="5694363"/>
          </a:xfrm>
          <a:prstGeom prst="rect">
            <a:avLst/>
          </a:prstGeom>
          <a:noFill/>
          <a:ln cap="flat">
            <a:noFill/>
          </a:ln>
        </p:spPr>
        <p:txBody>
          <a:bodyPr lIns="0" tIns="0" rIns="0" bIns="0"/>
          <a:lstStyle/>
          <a:p>
            <a:pPr marL="0" marR="0" lvl="0" indent="0" algn="l" defTabSz="914354" rtl="0" eaLnBrk="1" fontAlgn="auto" latinLnBrk="0" hangingPunct="1">
              <a:lnSpc>
                <a:spcPct val="100000"/>
              </a:lnSpc>
              <a:spcBef>
                <a:spcPts val="150"/>
              </a:spcBef>
              <a:spcAft>
                <a:spcPts val="150"/>
              </a:spcAft>
              <a:buClrTx/>
              <a:buSzTx/>
              <a:buFontTx/>
              <a:buNone/>
              <a:tabLst/>
              <a:defRPr sz="1800" b="0" i="0" u="none" strike="noStrike" kern="0" cap="none" spc="0" baseline="0">
                <a:solidFill>
                  <a:srgbClr val="000000"/>
                </a:solidFill>
                <a:uFillTx/>
              </a:defRPr>
            </a:pPr>
            <a:r>
              <a:rPr kumimoji="0" lang="en-GB" sz="900" b="1" i="0" u="none" strike="noStrike" kern="0" cap="none" spc="0" normalizeH="0" baseline="0" noProof="0" dirty="0">
                <a:ln>
                  <a:noFill/>
                </a:ln>
                <a:solidFill>
                  <a:srgbClr val="00ACC4"/>
                </a:solidFill>
                <a:effectLst/>
                <a:uLnTx/>
                <a:uFillTx/>
                <a:latin typeface="Barlow" panose="00000500000000000000" pitchFamily="2" charset="0"/>
                <a:cs typeface="Arial" pitchFamily="34"/>
              </a:rPr>
              <a:t>PROFESSIONAL EXPERIENCE</a:t>
            </a:r>
          </a:p>
          <a:p>
            <a:pPr lvl="0">
              <a:spcBef>
                <a:spcPts val="150"/>
              </a:spcBef>
              <a:spcAft>
                <a:spcPts val="150"/>
              </a:spcAft>
              <a:defRPr/>
            </a:pPr>
            <a:r>
              <a:rPr lang="en-US" sz="900" b="1" dirty="0">
                <a:latin typeface="Barlow" panose="00000500000000000000" pitchFamily="2" charset="0"/>
              </a:rPr>
              <a:t>Himanshu Jhalani has 8+ years of experience in Credit Risk, Regulatory Capital, Credit Underwriting, Financial Statement Analysis, and Portfolio Risk Management within the Banking and Financial Services industry.</a:t>
            </a:r>
            <a:r>
              <a:rPr lang="en-US" sz="900" dirty="0">
                <a:latin typeface="Barlow" panose="00000500000000000000" pitchFamily="2" charset="0"/>
              </a:rPr>
              <a:t> He has extensive experience in credit appraisal, annual and interim credit reviews, covenant monitoring, collateral analysis, regulatory capital assessment, and risk-adjusted return on capital (RAROC) evaluation. His background includes Basel II/III frameworks, PD, LGD, EAD analysis, regulatory reporting, and portfolio monitoring for banking institutions. He has worked with financial statements prepared under IFRS, US GAAP, and country-specific accounting standards, supporting credit decision-making, risk assessment, and regulatory compliance. He is proficient in Excel, Power BI, and credit risk platforms and has experience in financial data validation, reconciliation, risk rating assessment, and credit portfolio analytics.</a:t>
            </a:r>
            <a:endParaRPr kumimoji="0" lang="en-US" sz="900" b="1" i="0" u="none" strike="noStrike" kern="1200" cap="none" spc="0" normalizeH="0" baseline="0" noProof="0" dirty="0">
              <a:ln>
                <a:noFill/>
              </a:ln>
              <a:solidFill>
                <a:srgbClr val="00ACC4"/>
              </a:solidFill>
              <a:effectLst/>
              <a:uLnTx/>
              <a:uFillTx/>
              <a:latin typeface="Barlow" panose="00000500000000000000" pitchFamily="2" charset="0"/>
              <a:cs typeface="Arial" pitchFamily="34"/>
            </a:endParaRPr>
          </a:p>
          <a:p>
            <a:pPr lvl="0">
              <a:spcBef>
                <a:spcPts val="150"/>
              </a:spcBef>
              <a:spcAft>
                <a:spcPts val="150"/>
              </a:spcAft>
              <a:defRPr/>
            </a:pPr>
            <a:endParaRPr kumimoji="0" lang="en-GB" sz="900" b="1" i="0" u="none" strike="noStrike" kern="1200" cap="none" spc="0" normalizeH="0" baseline="0" noProof="0" dirty="0">
              <a:ln>
                <a:noFill/>
              </a:ln>
              <a:solidFill>
                <a:srgbClr val="00ACC4"/>
              </a:solidFill>
              <a:effectLst/>
              <a:uLnTx/>
              <a:uFillTx/>
              <a:latin typeface="Barlow" panose="00000500000000000000" pitchFamily="2" charset="0"/>
              <a:cs typeface="Arial" pitchFamily="34"/>
            </a:endParaRPr>
          </a:p>
          <a:p>
            <a:pPr lvl="0">
              <a:spcBef>
                <a:spcPts val="150"/>
              </a:spcBef>
              <a:spcAft>
                <a:spcPts val="150"/>
              </a:spcAft>
              <a:defRPr/>
            </a:pPr>
            <a:endParaRPr lang="en-GB" sz="900" b="1" dirty="0">
              <a:solidFill>
                <a:srgbClr val="00ACC4"/>
              </a:solidFill>
              <a:latin typeface="Barlow" panose="00000500000000000000" pitchFamily="2" charset="0"/>
              <a:cs typeface="Arial" pitchFamily="34"/>
            </a:endParaRPr>
          </a:p>
          <a:p>
            <a:pPr lvl="0">
              <a:spcBef>
                <a:spcPts val="150"/>
              </a:spcBef>
              <a:spcAft>
                <a:spcPts val="150"/>
              </a:spcAft>
              <a:defRPr/>
            </a:pPr>
            <a:r>
              <a:rPr kumimoji="0" lang="en-GB" sz="900" b="1" i="0" u="none" strike="noStrike" kern="1200" cap="none" spc="0" normalizeH="0" baseline="0" noProof="0" dirty="0">
                <a:ln>
                  <a:noFill/>
                </a:ln>
                <a:solidFill>
                  <a:srgbClr val="00ACC4"/>
                </a:solidFill>
                <a:effectLst/>
                <a:uLnTx/>
                <a:uFillTx/>
                <a:latin typeface="Barlow" panose="00000500000000000000" pitchFamily="2" charset="0"/>
                <a:cs typeface="Arial" pitchFamily="34"/>
              </a:rPr>
              <a:t>MAJOR PROJECTS</a:t>
            </a:r>
          </a:p>
          <a:p>
            <a:r>
              <a:rPr lang="en-US" sz="900" b="1" dirty="0">
                <a:latin typeface="Barlow" panose="00000500000000000000" pitchFamily="2" charset="0"/>
                <a:cs typeface="Arial" pitchFamily="34"/>
              </a:rPr>
              <a:t>Global Banking Organization – Credit Underwriting &amp; Regulatory Capital Assessment – Senior Credit Risk Analyst</a:t>
            </a:r>
          </a:p>
          <a:p>
            <a:pPr marL="171450" lvl="0" indent="-171450">
              <a:buFont typeface="Arial" panose="020B0604020202020204" pitchFamily="34" charset="0"/>
              <a:buChar char="•"/>
              <a:defRPr/>
            </a:pPr>
            <a:r>
              <a:rPr lang="en-US" sz="900" dirty="0">
                <a:latin typeface="Barlow" panose="00000500000000000000" pitchFamily="2" charset="0"/>
                <a:cs typeface="Arial" pitchFamily="34"/>
              </a:rPr>
              <a:t>Performed end-to-end credit underwriting, financial statement analysis, and credit appraisal activities for corporate and institutional borrowers, supporting informed credit decisions and risk assessments.</a:t>
            </a:r>
          </a:p>
          <a:p>
            <a:pPr marL="171450" lvl="0" indent="-171450">
              <a:buFont typeface="Arial" panose="020B0604020202020204" pitchFamily="34" charset="0"/>
              <a:buChar char="•"/>
              <a:defRPr/>
            </a:pPr>
            <a:r>
              <a:rPr lang="en-US" sz="900" dirty="0">
                <a:latin typeface="Barlow" panose="00000500000000000000" pitchFamily="2" charset="0"/>
                <a:cs typeface="Arial" pitchFamily="34"/>
              </a:rPr>
              <a:t>Prepared credit proposals covering financial analysis, risk ratings, collateral evaluation, exposure assessment, covenant review, and industry analysis for approval and portfolio monitoring.</a:t>
            </a:r>
          </a:p>
          <a:p>
            <a:pPr marL="171450" lvl="0" indent="-171450">
              <a:buFont typeface="Arial" panose="020B0604020202020204" pitchFamily="34" charset="0"/>
              <a:buChar char="•"/>
              <a:defRPr/>
            </a:pPr>
            <a:r>
              <a:rPr lang="en-US" sz="900" dirty="0">
                <a:latin typeface="Barlow" panose="00000500000000000000" pitchFamily="2" charset="0"/>
                <a:cs typeface="Arial" pitchFamily="34"/>
              </a:rPr>
              <a:t>Conducted annual and interim credit reviews, covenant testing, portfolio monitoring, and due diligence activities aligned with internal credit policies and Basel requirements.</a:t>
            </a:r>
          </a:p>
          <a:p>
            <a:pPr marL="171450" indent="-171450">
              <a:buFont typeface="Arial" panose="020B0604020202020204" pitchFamily="34" charset="0"/>
              <a:buChar char="•"/>
              <a:defRPr/>
            </a:pPr>
            <a:r>
              <a:rPr lang="en-US" sz="900" dirty="0">
                <a:latin typeface="Barlow" panose="00000500000000000000" pitchFamily="2" charset="0"/>
                <a:cs typeface="Arial" pitchFamily="34"/>
              </a:rPr>
              <a:t>Supported regulatory capital assessment through RAROC calculations, exposure analysis, margin assessment, and monitoring of credit, market, and operational risks.</a:t>
            </a:r>
            <a:br>
              <a:rPr lang="en-US" sz="900" dirty="0">
                <a:latin typeface="Barlow" panose="00000500000000000000" pitchFamily="2" charset="0"/>
                <a:cs typeface="Arial" pitchFamily="34"/>
              </a:rPr>
            </a:br>
            <a:r>
              <a:rPr lang="en-US" sz="900" dirty="0">
                <a:latin typeface="Barlow" panose="00000500000000000000" pitchFamily="2" charset="0"/>
                <a:cs typeface="Arial" pitchFamily="34"/>
              </a:rPr>
              <a:t>Evaluated borrower creditworthiness through analysis of financial statements, credit bureau reports, payment histories, and counterparty risk profiles.</a:t>
            </a:r>
          </a:p>
          <a:p>
            <a:pPr marL="171450" indent="-171450">
              <a:buFont typeface="Arial" panose="020B0604020202020204" pitchFamily="34" charset="0"/>
              <a:buChar char="•"/>
              <a:defRPr/>
            </a:pPr>
            <a:r>
              <a:rPr lang="en-US" sz="900" dirty="0">
                <a:latin typeface="Barlow" panose="00000500000000000000" pitchFamily="2" charset="0"/>
                <a:cs typeface="Arial" pitchFamily="34"/>
              </a:rPr>
              <a:t>Determined credit authorization limits using internal risk rating methodologies while aligning exposures with risk appetite and risk management frameworks.</a:t>
            </a:r>
          </a:p>
          <a:p>
            <a:pPr marL="171450" indent="-171450">
              <a:buFont typeface="Arial" panose="020B0604020202020204" pitchFamily="34" charset="0"/>
              <a:buChar char="•"/>
              <a:defRPr/>
            </a:pPr>
            <a:r>
              <a:rPr lang="en-US" sz="900" dirty="0">
                <a:latin typeface="Barlow" panose="00000500000000000000" pitchFamily="2" charset="0"/>
                <a:cs typeface="Arial" pitchFamily="34"/>
              </a:rPr>
              <a:t>Monitored watch-list accounts, early warning indicators, and potential NPA migration risks, escalating concerns to support proactive portfolio management.</a:t>
            </a:r>
          </a:p>
          <a:p>
            <a:pPr marL="171450" lvl="0" indent="-171450">
              <a:buFont typeface="Arial" panose="020B0604020202020204" pitchFamily="34" charset="0"/>
              <a:buChar char="•"/>
              <a:defRPr/>
            </a:pPr>
            <a:endParaRPr lang="en-US" sz="900" dirty="0">
              <a:latin typeface="Barlow" panose="00000500000000000000" pitchFamily="2" charset="0"/>
              <a:cs typeface="Arial" pitchFamily="34"/>
            </a:endParaRPr>
          </a:p>
          <a:p>
            <a:r>
              <a:rPr lang="en-US" sz="900" b="1" dirty="0">
                <a:latin typeface="Barlow" panose="00000500000000000000" pitchFamily="2" charset="0"/>
                <a:cs typeface="Arial" pitchFamily="34"/>
              </a:rPr>
              <a:t>Global Financial Intelligence Organization – Credit &amp; Regulatory Risk Analytics – Credit &amp; Financial Analyst</a:t>
            </a:r>
          </a:p>
          <a:p>
            <a:pPr marL="171450" indent="-171450">
              <a:buFont typeface="Arial" panose="020B0604020202020204" pitchFamily="34" charset="0"/>
              <a:buChar char="•"/>
              <a:defRPr/>
            </a:pPr>
            <a:r>
              <a:rPr lang="en-US" sz="900" dirty="0">
                <a:latin typeface="Barlow" panose="00000500000000000000" pitchFamily="2" charset="0"/>
                <a:cs typeface="Arial" pitchFamily="34"/>
              </a:rPr>
              <a:t>Performed financial statement analysis and credit risk assessment for banking and financial institutions using IFRS, US GAAP, and country-specific reporting frameworks.</a:t>
            </a:r>
          </a:p>
          <a:p>
            <a:pPr marL="171450" indent="-171450">
              <a:buFont typeface="Arial" panose="020B0604020202020204" pitchFamily="34" charset="0"/>
              <a:buChar char="•"/>
              <a:defRPr/>
            </a:pPr>
            <a:r>
              <a:rPr lang="en-US" sz="900" dirty="0" err="1">
                <a:latin typeface="Barlow" panose="00000500000000000000" pitchFamily="2" charset="0"/>
                <a:cs typeface="Arial" pitchFamily="34"/>
              </a:rPr>
              <a:t>Analysed</a:t>
            </a:r>
            <a:r>
              <a:rPr lang="en-US" sz="900" dirty="0">
                <a:latin typeface="Barlow" panose="00000500000000000000" pitchFamily="2" charset="0"/>
                <a:cs typeface="Arial" pitchFamily="34"/>
              </a:rPr>
              <a:t> regulatory filings, validated financial data, and reconciled key financial metrics to support risk analysis and reporting activities.</a:t>
            </a:r>
          </a:p>
          <a:p>
            <a:pPr marL="171450" indent="-171450">
              <a:buFont typeface="Arial" panose="020B0604020202020204" pitchFamily="34" charset="0"/>
              <a:buChar char="•"/>
              <a:defRPr/>
            </a:pPr>
            <a:r>
              <a:rPr lang="en-US" sz="900" dirty="0">
                <a:latin typeface="Barlow" panose="00000500000000000000" pitchFamily="2" charset="0"/>
                <a:cs typeface="Arial" pitchFamily="34"/>
              </a:rPr>
              <a:t>Monitored capital adequacy, liquidity, asset quality, and portfolio risk indicators while supporting regulatory capital management and Basel II/III reporting requirements.</a:t>
            </a:r>
          </a:p>
          <a:p>
            <a:pPr marL="171450" indent="-171450">
              <a:buFont typeface="Arial" panose="020B0604020202020204" pitchFamily="34" charset="0"/>
              <a:buChar char="•"/>
              <a:defRPr/>
            </a:pPr>
            <a:r>
              <a:rPr lang="en-US" sz="900" dirty="0">
                <a:latin typeface="Barlow" panose="00000500000000000000" pitchFamily="2" charset="0"/>
                <a:cs typeface="Arial" pitchFamily="34"/>
              </a:rPr>
              <a:t>Produced analytical and operational reports, identified data discrepancies, and supported remediation through structured validation and quality control processes.</a:t>
            </a:r>
          </a:p>
          <a:p>
            <a:pPr marL="171450" lvl="0" indent="-171450">
              <a:buFont typeface="Arial" panose="020B0604020202020204" pitchFamily="34" charset="0"/>
              <a:buChar char="•"/>
              <a:defRPr/>
            </a:pPr>
            <a:r>
              <a:rPr lang="en-US" sz="900" dirty="0">
                <a:latin typeface="Barlow" panose="00000500000000000000" pitchFamily="2" charset="0"/>
                <a:cs typeface="Arial" pitchFamily="34"/>
              </a:rPr>
              <a:t>Applied Basel II/III concepts including capital adequacy analysis, risk-weighted asset assessment, and regulatory capital evaluation within banking sector reviews.</a:t>
            </a:r>
          </a:p>
          <a:p>
            <a:pPr marL="171450" lvl="0" indent="-171450">
              <a:buFont typeface="Arial" panose="020B0604020202020204" pitchFamily="34" charset="0"/>
              <a:buChar char="•"/>
              <a:defRPr/>
            </a:pPr>
            <a:r>
              <a:rPr lang="en-US" sz="900" dirty="0">
                <a:latin typeface="Barlow" panose="00000500000000000000" pitchFamily="2" charset="0"/>
                <a:cs typeface="Arial" pitchFamily="34"/>
              </a:rPr>
              <a:t>Extracted, validated, and reconciled financial information from regulatory reports, annual reports, and public disclosures to support credit assessment activities.</a:t>
            </a:r>
          </a:p>
          <a:p>
            <a:pPr marL="171450" lvl="0" indent="-171450">
              <a:buFont typeface="Arial" panose="020B0604020202020204" pitchFamily="34" charset="0"/>
              <a:buChar char="•"/>
              <a:defRPr/>
            </a:pPr>
            <a:r>
              <a:rPr lang="en-US" sz="900" dirty="0">
                <a:latin typeface="Barlow" panose="00000500000000000000" pitchFamily="2" charset="0"/>
                <a:cs typeface="Arial" pitchFamily="34"/>
              </a:rPr>
              <a:t>Delivered quantitative analysis and portfolio risk insights through evaluation of balance sheets, income statements, cash flow statements, and sector-specific financial metrics.</a:t>
            </a:r>
          </a:p>
          <a:p>
            <a:pPr marL="171450" indent="-171450">
              <a:buFont typeface="Arial" panose="020B0604020202020204" pitchFamily="34" charset="0"/>
              <a:buChar char="•"/>
              <a:defRPr/>
            </a:pPr>
            <a:endParaRPr lang="en-US" sz="900" dirty="0">
              <a:latin typeface="Barlow" panose="00000500000000000000" pitchFamily="2" charset="0"/>
              <a:cs typeface="Arial" pitchFamily="34"/>
            </a:endParaRPr>
          </a:p>
          <a:p>
            <a:pPr marL="171450" marR="0" lvl="0" indent="-171450" algn="l" defTabSz="914400" rtl="0" eaLnBrk="1" fontAlgn="auto" latinLnBrk="0" hangingPunct="1">
              <a:lnSpc>
                <a:spcPct val="100000"/>
              </a:lnSpc>
              <a:buClrTx/>
              <a:buSzTx/>
              <a:buFont typeface="Arial" panose="020B0604020202020204" pitchFamily="34" charset="0"/>
              <a:buChar char="•"/>
              <a:tabLst/>
              <a:defRPr/>
            </a:pPr>
            <a:endParaRPr kumimoji="0" lang="en-US" sz="900" i="0" u="none" strike="noStrike" kern="1200" cap="none" spc="0" normalizeH="0" baseline="0" noProof="0" dirty="0">
              <a:ln>
                <a:noFill/>
              </a:ln>
              <a:effectLst/>
              <a:uLnTx/>
              <a:uFillTx/>
              <a:latin typeface="Barlow" panose="00000500000000000000" pitchFamily="2" charset="0"/>
              <a:cs typeface="Arial" pitchFamily="34"/>
            </a:endParaRPr>
          </a:p>
        </p:txBody>
      </p:sp>
    </p:spTree>
    <p:extLst>
      <p:ext uri="{BB962C8B-B14F-4D97-AF65-F5344CB8AC3E}">
        <p14:creationId xmlns:p14="http://schemas.microsoft.com/office/powerpoint/2010/main" val="18280369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9d90964-91d3-4c01-ab00-563f95f00a38}" enabled="0" method="" siteId="{a9d90964-91d3-4c01-ab00-563f95f00a38}" removed="1"/>
  <clbl:label id="{da623df2-7a25-4a8f-b59b-3a3459c1375f}" enabled="1" method="Standard" siteId="{16532572-d567-4d67-8727-f12f7bb6aed3}" removed="0"/>
</clbl:labelList>
</file>

<file path=docProps/app.xml><?xml version="1.0" encoding="utf-8"?>
<Properties xmlns="http://schemas.openxmlformats.org/officeDocument/2006/extended-properties" xmlns:vt="http://schemas.openxmlformats.org/officeDocument/2006/docPropsVTypes">
  <TotalTime>0</TotalTime>
  <Words>606</Words>
  <Application>Microsoft Office PowerPoint</Application>
  <PresentationFormat>Widescreen</PresentationFormat>
  <Paragraphs>56</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MS PGothic</vt:lpstr>
      <vt:lpstr>Aptos</vt:lpstr>
      <vt:lpstr>Aptos Display</vt:lpstr>
      <vt:lpstr>Arial</vt:lpstr>
      <vt:lpstr>Barlow</vt:lpstr>
      <vt:lpstr>Barlow Condensed Medium</vt:lpstr>
      <vt:lpstr>Calibri</vt:lpstr>
      <vt:lpstr>Office Theme</vt:lpstr>
      <vt:lpstr>Himanshu   Jhalani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2026-07-01T07:48:12Z</dcterms:created>
  <dcterms:modified xsi:type="dcterms:W3CDTF">2026-07-31T04:59:48Z</dcterms:modified>
</cp:coreProperties>
</file>